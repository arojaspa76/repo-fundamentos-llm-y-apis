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Probabilidad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Sheet1!$A$2:$A$6</c:f>
              <c:strCache>
                <c:ptCount val="5"/>
                <c:pt idx="0">
                  <c:v>elefante</c:v>
                </c:pt>
                <c:pt idx="1">
                  <c:v>turno</c:v>
                </c:pt>
                <c:pt idx="2">
                  <c:v>reembolso</c:v>
                </c:pt>
                <c:pt idx="3">
                  <c:v>préstamo</c:v>
                </c:pt>
                <c:pt idx="4">
                  <c:v>crédito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0.01</c:v>
                </c:pt>
                <c:pt idx="1">
                  <c:v>0.11</c:v>
                </c:pt>
                <c:pt idx="2">
                  <c:v>0.15</c:v>
                </c:pt>
                <c:pt idx="3">
                  <c:v>0.27</c:v>
                </c:pt>
                <c:pt idx="4">
                  <c:v>0.46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E6EEF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2A3E50"/>
            </a:solidFill>
          </a:ln>
        </c:spPr>
        <c:txPr>
          <a:bodyPr/>
          <a:lstStyle/>
          <a:p>
            <a:pPr>
              <a:defRPr>
                <a:solidFill>
                  <a:srgbClr val="E6EE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2A3E5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A3B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EA3B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Miles de millones de parámetros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Sheet1!$A$2:$A$8</c:f>
              <c:strCache>
                <c:ptCount val="7"/>
                <c:pt idx="0">
                  <c:v>GPT-1 2018
0,117</c:v>
                </c:pt>
                <c:pt idx="1">
                  <c:v>BERT-L 2018
0,34</c:v>
                </c:pt>
                <c:pt idx="2">
                  <c:v>GPT-2 2019
1,5</c:v>
                </c:pt>
                <c:pt idx="3">
                  <c:v>T5 2019
11</c:v>
                </c:pt>
                <c:pt idx="4">
                  <c:v>GPT-3 2020
175</c:v>
                </c:pt>
                <c:pt idx="5">
                  <c:v>PaLM 2022
540</c:v>
                </c:pt>
                <c:pt idx="6">
                  <c:v>Llama 3.1
2024 · 405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0.117</c:v>
                </c:pt>
                <c:pt idx="1">
                  <c:v>0.34</c:v>
                </c:pt>
                <c:pt idx="2">
                  <c:v>1.5</c:v>
                </c:pt>
                <c:pt idx="3">
                  <c:v>11</c:v>
                </c:pt>
                <c:pt idx="4">
                  <c:v>175</c:v>
                </c:pt>
                <c:pt idx="5">
                  <c:v>540</c:v>
                </c:pt>
                <c:pt idx="6">
                  <c:v>405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E50"/>
            </a:solidFill>
          </a:ln>
        </c:spPr>
        <c:txPr>
          <a:bodyPr/>
          <a:lstStyle/>
          <a:p>
            <a:pPr>
              <a:defRPr>
                <a:solidFill>
                  <a:srgbClr val="E6EE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logBase val="10"/>
          <c:min val="0.01"/>
        </c:scaling>
        <c:delete val="0"/>
        <c:axPos val="l"/>
        <c:majorGridlines>
          <c:spPr>
            <a:ln>
              <a:solidFill>
                <a:srgbClr val="2A3E5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8EA3B5"/>
                    </a:solidFill>
                  </a:rPr>
                  <a:t>Miles de millones (escala log)</a:t>
                </a:r>
              </a:p>
            </c:rich>
          </c:tx>
          <c:layout/>
          <c:overlay val="0"/>
        </c:title>
        <c:numFmt formatCode="#,##0.##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A3B5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8EA3B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 = 0,5 (conservador)</c:v>
                </c:pt>
              </c:strCache>
            </c:strRef>
          </c:tx>
          <c:spPr>
            <a:solidFill>
              <a:srgbClr val="00D4FF"/>
            </a:solidFill>
          </c:spPr>
          <c:cat>
            <c:strRef>
              <c:f>Sheet1!$A$2:$A$6</c:f>
              <c:strCache>
                <c:ptCount val="5"/>
                <c:pt idx="0">
                  <c:v>crédito</c:v>
                </c:pt>
                <c:pt idx="1">
                  <c:v>préstamo</c:v>
                </c:pt>
                <c:pt idx="2">
                  <c:v>reembolso</c:v>
                </c:pt>
                <c:pt idx="3">
                  <c:v>turno</c:v>
                </c:pt>
                <c:pt idx="4">
                  <c:v>elefante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0.663</c:v>
                </c:pt>
                <c:pt idx="1">
                  <c:v>0.228</c:v>
                </c:pt>
                <c:pt idx="2">
                  <c:v>0.07</c:v>
                </c:pt>
                <c:pt idx="3">
                  <c:v>0.038</c:v>
                </c:pt>
                <c:pt idx="4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 = 1,0</c:v>
                </c:pt>
              </c:strCache>
            </c:strRef>
          </c:tx>
          <c:spPr>
            <a:solidFill>
              <a:srgbClr val="8EA3B5"/>
            </a:solidFill>
          </c:spPr>
          <c:cat>
            <c:strRef>
              <c:f>Sheet1!$A$2:$A$6</c:f>
              <c:strCache>
                <c:ptCount val="5"/>
                <c:pt idx="0">
                  <c:v>crédito</c:v>
                </c:pt>
                <c:pt idx="1">
                  <c:v>préstamo</c:v>
                </c:pt>
                <c:pt idx="2">
                  <c:v>reembolso</c:v>
                </c:pt>
                <c:pt idx="3">
                  <c:v>turno</c:v>
                </c:pt>
                <c:pt idx="4">
                  <c:v>elefante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0.46</c:v>
                </c:pt>
                <c:pt idx="1">
                  <c:v>0.27</c:v>
                </c:pt>
                <c:pt idx="2">
                  <c:v>0.15</c:v>
                </c:pt>
                <c:pt idx="3">
                  <c:v>0.11</c:v>
                </c:pt>
                <c:pt idx="4">
                  <c:v>0.01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 = 1,5 (creativo)</c:v>
                </c:pt>
              </c:strCache>
            </c:strRef>
          </c:tx>
          <c:spPr>
            <a:solidFill>
              <a:srgbClr val="F5A623"/>
            </a:solidFill>
          </c:spPr>
          <c:cat>
            <c:strRef>
              <c:f>Sheet1!$A$2:$A$6</c:f>
              <c:strCache>
                <c:ptCount val="5"/>
                <c:pt idx="0">
                  <c:v>crédito</c:v>
                </c:pt>
                <c:pt idx="1">
                  <c:v>préstamo</c:v>
                </c:pt>
                <c:pt idx="2">
                  <c:v>reembolso</c:v>
                </c:pt>
                <c:pt idx="3">
                  <c:v>turno</c:v>
                </c:pt>
                <c:pt idx="4">
                  <c:v>elefante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0.379</c:v>
                </c:pt>
                <c:pt idx="1">
                  <c:v>0.266</c:v>
                </c:pt>
                <c:pt idx="2">
                  <c:v>0.18</c:v>
                </c:pt>
                <c:pt idx="3">
                  <c:v>0.146</c:v>
                </c:pt>
                <c:pt idx="4">
                  <c:v>0.03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E50"/>
            </a:solidFill>
          </a:ln>
        </c:spPr>
        <c:txPr>
          <a:bodyPr/>
          <a:lstStyle/>
          <a:p>
            <a:pPr>
              <a:defRPr>
                <a:solidFill>
                  <a:srgbClr val="E6EEF5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2A3E50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A3B5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E6EEF5"/>
              </a:solidFill>
            </a:defRPr>
          </a:pPr>
        </a:p>
      </c:txPr>
    </c:legend>
    <c:dispBlanksAs val="gap"/>
  </c:chart>
  <c:txPr>
    <a:bodyPr/>
    <a:lstStyle/>
    <a:p>
      <a:pPr>
        <a:defRPr sz="1100">
          <a:solidFill>
            <a:srgbClr val="8EA3B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API modelo tipo flash</c:v>
                </c:pt>
              </c:strCache>
            </c:strRef>
          </c:tx>
          <c:spPr>
            <a:ln w="38100">
              <a:solidFill>
                <a:srgbClr val="00D4FF"/>
              </a:solidFill>
            </a:ln>
          </c:spPr>
          <c:marker>
            <c:symbol val="none"/>
            <c:spPr>
              <a:noFill/>
            </c:spPr>
          </c:marker>
          <c:cat>
            <c:strRef>
              <c:f>Sheet1!$A$2:$A$10</c:f>
              <c:strCache>
                <c:ptCount val="9"/>
                <c:pt idx="0">
                  <c:v>0M</c:v>
                </c:pt>
                <c:pt idx="1">
                  <c:v>1M</c:v>
                </c:pt>
                <c:pt idx="2">
                  <c:v>2M</c:v>
                </c:pt>
                <c:pt idx="3">
                  <c:v>3M</c:v>
                </c:pt>
                <c:pt idx="4">
                  <c:v>4M</c:v>
                </c:pt>
                <c:pt idx="5">
                  <c:v>5M</c:v>
                </c:pt>
                <c:pt idx="6">
                  <c:v>6M</c:v>
                </c:pt>
                <c:pt idx="7">
                  <c:v>7M</c:v>
                </c:pt>
                <c:pt idx="8">
                  <c:v>8M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985</c:v>
                </c:pt>
                <c:pt idx="2">
                  <c:v>1970</c:v>
                </c:pt>
                <c:pt idx="3">
                  <c:v>2955</c:v>
                </c:pt>
                <c:pt idx="4">
                  <c:v>3940</c:v>
                </c:pt>
                <c:pt idx="5">
                  <c:v>4925</c:v>
                </c:pt>
                <c:pt idx="6">
                  <c:v>5910</c:v>
                </c:pt>
                <c:pt idx="7">
                  <c:v>6895</c:v>
                </c:pt>
                <c:pt idx="8">
                  <c:v>7880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API modelo económico</c:v>
                </c:pt>
              </c:strCache>
            </c:strRef>
          </c:tx>
          <c:spPr>
            <a:ln w="38100">
              <a:solidFill>
                <a:srgbClr val="00E676"/>
              </a:solidFill>
            </a:ln>
          </c:spPr>
          <c:marker>
            <c:symbol val="none"/>
            <c:spPr>
              <a:noFill/>
            </c:spPr>
          </c:marker>
          <c:cat>
            <c:strRef>
              <c:f>Sheet1!$A$2:$A$10</c:f>
              <c:strCache>
                <c:ptCount val="9"/>
                <c:pt idx="0">
                  <c:v>0M</c:v>
                </c:pt>
                <c:pt idx="1">
                  <c:v>1M</c:v>
                </c:pt>
                <c:pt idx="2">
                  <c:v>2M</c:v>
                </c:pt>
                <c:pt idx="3">
                  <c:v>3M</c:v>
                </c:pt>
                <c:pt idx="4">
                  <c:v>4M</c:v>
                </c:pt>
                <c:pt idx="5">
                  <c:v>5M</c:v>
                </c:pt>
                <c:pt idx="6">
                  <c:v>6M</c:v>
                </c:pt>
                <c:pt idx="7">
                  <c:v>7M</c:v>
                </c:pt>
                <c:pt idx="8">
                  <c:v>8M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330</c:v>
                </c:pt>
                <c:pt idx="2">
                  <c:v>660</c:v>
                </c:pt>
                <c:pt idx="3">
                  <c:v>990</c:v>
                </c:pt>
                <c:pt idx="4">
                  <c:v>1320</c:v>
                </c:pt>
                <c:pt idx="5">
                  <c:v>1650</c:v>
                </c:pt>
                <c:pt idx="6">
                  <c:v>1980</c:v>
                </c:pt>
                <c:pt idx="7">
                  <c:v>2310</c:v>
                </c:pt>
                <c:pt idx="8">
                  <c:v>2640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GPU dedicada (1 réplica)</c:v>
                </c:pt>
              </c:strCache>
            </c:strRef>
          </c:tx>
          <c:spPr>
            <a:ln w="38100">
              <a:solidFill>
                <a:srgbClr val="F5A623"/>
              </a:solidFill>
            </a:ln>
          </c:spPr>
          <c:marker>
            <c:symbol val="none"/>
            <c:spPr>
              <a:noFill/>
            </c:spPr>
          </c:marker>
          <c:cat>
            <c:strRef>
              <c:f>Sheet1!$A$2:$A$10</c:f>
              <c:strCache>
                <c:ptCount val="9"/>
                <c:pt idx="0">
                  <c:v>0M</c:v>
                </c:pt>
                <c:pt idx="1">
                  <c:v>1M</c:v>
                </c:pt>
                <c:pt idx="2">
                  <c:v>2M</c:v>
                </c:pt>
                <c:pt idx="3">
                  <c:v>3M</c:v>
                </c:pt>
                <c:pt idx="4">
                  <c:v>4M</c:v>
                </c:pt>
                <c:pt idx="5">
                  <c:v>5M</c:v>
                </c:pt>
                <c:pt idx="6">
                  <c:v>6M</c:v>
                </c:pt>
                <c:pt idx="7">
                  <c:v>7M</c:v>
                </c:pt>
                <c:pt idx="8">
                  <c:v>8M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2900</c:v>
                </c:pt>
                <c:pt idx="1">
                  <c:v>2900</c:v>
                </c:pt>
                <c:pt idx="2">
                  <c:v>2900</c:v>
                </c:pt>
                <c:pt idx="3">
                  <c:v>2900</c:v>
                </c:pt>
                <c:pt idx="4">
                  <c:v>2900</c:v>
                </c:pt>
                <c:pt idx="5">
                  <c:v>2900</c:v>
                </c:pt>
                <c:pt idx="6">
                  <c:v>2900</c:v>
                </c:pt>
                <c:pt idx="7">
                  <c:v>2900</c:v>
                </c:pt>
                <c:pt idx="8">
                  <c:v>2900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GPU con alta disponibilidad (2)</c:v>
                </c:pt>
              </c:strCache>
            </c:strRef>
          </c:tx>
          <c:spPr>
            <a:ln w="38100">
              <a:solidFill>
                <a:srgbClr val="FF5C7A"/>
              </a:solidFill>
            </a:ln>
          </c:spPr>
          <c:marker>
            <c:symbol val="none"/>
            <c:spPr>
              <a:noFill/>
            </c:spPr>
          </c:marker>
          <c:cat>
            <c:strRef>
              <c:f>Sheet1!$A$2:$A$10</c:f>
              <c:strCache>
                <c:ptCount val="9"/>
                <c:pt idx="0">
                  <c:v>0M</c:v>
                </c:pt>
                <c:pt idx="1">
                  <c:v>1M</c:v>
                </c:pt>
                <c:pt idx="2">
                  <c:v>2M</c:v>
                </c:pt>
                <c:pt idx="3">
                  <c:v>3M</c:v>
                </c:pt>
                <c:pt idx="4">
                  <c:v>4M</c:v>
                </c:pt>
                <c:pt idx="5">
                  <c:v>5M</c:v>
                </c:pt>
                <c:pt idx="6">
                  <c:v>6M</c:v>
                </c:pt>
                <c:pt idx="7">
                  <c:v>7M</c:v>
                </c:pt>
                <c:pt idx="8">
                  <c:v>8M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5800</c:v>
                </c:pt>
                <c:pt idx="1">
                  <c:v>5800</c:v>
                </c:pt>
                <c:pt idx="2">
                  <c:v>5800</c:v>
                </c:pt>
                <c:pt idx="3">
                  <c:v>5800</c:v>
                </c:pt>
                <c:pt idx="4">
                  <c:v>5800</c:v>
                </c:pt>
                <c:pt idx="5">
                  <c:v>5800</c:v>
                </c:pt>
                <c:pt idx="6">
                  <c:v>5800</c:v>
                </c:pt>
                <c:pt idx="7">
                  <c:v>5800</c:v>
                </c:pt>
                <c:pt idx="8">
                  <c:v>5800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E50"/>
            </a:solidFill>
          </a:ln>
        </c:spPr>
        <c:txPr>
          <a:bodyPr/>
          <a:lstStyle/>
          <a:p>
            <a:pPr>
              <a:defRPr>
                <a:solidFill>
                  <a:srgbClr val="E6EEF5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2A3E5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>
                    <a:solidFill>
                      <a:srgbClr val="8EA3B5"/>
                    </a:solidFill>
                  </a:rPr>
                  <a:t>USD por mes</a:t>
                </a:r>
              </a:p>
            </c:rich>
          </c:tx>
          <c:layout/>
          <c:overlay val="0"/>
        </c:title>
        <c:numFmt formatCode="&quot;$&quot;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EA3B5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>
              <a:solidFill>
                <a:srgbClr val="E6EEF5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8EA3B5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Bienvenida. Presente el curso: Fundamentos de Arquitectura LLM. Estas dos primeras sesiones forman el Capítulo 1,</a:t>
            </a:r>
          </a:p>
          <a:p>
            <a:r>
              <a:t>"Conceptos fundamentales". El propósito es que, antes de escribir una sola línea de integración, todos compartamos</a:t>
            </a:r>
          </a:p>
          <a:p>
            <a:r>
              <a:t>un modelo mental correcto de qué es un LLM, cómo funciona por dentro y qué opciones existen para usarlo en una empresa.</a:t>
            </a:r>
          </a:p>
          <a:p/>
          <a:p>
            <a:r>
              <a:t>Mensaje clave para abrir: en este curso no vamos a "usar ChatGPT"; vamos a aprender a DISEÑAR soluciones en las que</a:t>
            </a:r>
          </a:p>
          <a:p>
            <a:r>
              <a:t>un LLM es un componente más de la arquitectura, con requisitos de costo, seguridad, disponibilidad y escalabilidad.</a:t>
            </a:r>
          </a:p>
          <a:p/>
          <a:p>
            <a:r>
              <a:t>Nota metodológica: por solicitud de cohortes anteriores, estas diapositivas priorizan la teoría. Los ejercicios se</a:t>
            </a:r>
          </a:p>
          <a:p>
            <a:r>
              <a:t>nombran aquí y se desarrollan en el repositorio del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Muestre el mapa completo. La Sesión 1 responde "¿qué es y cómo funciona un LLM?"; la Sesión 2 responde "¿qué tipos</a:t>
            </a:r>
          </a:p>
          <a:p>
            <a:r>
              <a:t>existen, dónde se ejecutan, cuánto cuestan y cómo elijo?".</a:t>
            </a:r>
          </a:p>
          <a:p/>
          <a:p>
            <a:r>
              <a:t>Conecte con el objetivo de desempeño del curso: identificar fundamentos y componentes (Sesión 1), analizar tipos de</a:t>
            </a:r>
          </a:p>
          <a:p>
            <a:r>
              <a:t>modelos y servicios con casos LATAM y costos (Sesión 2) y explicar criterios de adopción para seleccionar la mejor</a:t>
            </a:r>
          </a:p>
          <a:p>
            <a:r>
              <a:t>alternativa (cierre de la Sesión 2).</a:t>
            </a:r>
          </a:p>
          <a:p/>
          <a:p>
            <a:r>
              <a:t>Cada sesión dura 3 horas e incluye teoría, un laboratorio guiado y una breve evaluación.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 los objetivos en voz alta y pida a los participantes que marquen mentalmente cuál les parece más difícil.</a:t>
            </a:r>
          </a:p>
          <a:p>
            <a:r>
              <a:t>Volveremos a esta diapositiva al cierre para verificar.</a:t>
            </a:r>
          </a:p>
          <a:p/>
          <a:p>
            <a:r>
              <a:t>Los verbos siguen la taxonomía de Bloom: recordar, comprender, aplicar, analizar. En esta sesión no pedimos todavía</a:t>
            </a:r>
          </a:p>
          <a:p>
            <a:r>
              <a:t>"diseñar" ni "evaluar": eso llega con la Sesión 2 y los capítulos siguientes.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 el caso que usaremos durante todo el curso: TechCorp Latinoamérica, una empresa manufacturera ficticia con</a:t>
            </a:r>
          </a:p>
          <a:p>
            <a:r>
              <a:t>sedes en Bogotá, Lima y Ciudad de México.</a:t>
            </a:r>
          </a:p>
          <a:p/>
          <a:p>
            <a:r>
              <a:t>Por qué un caso transversal: permite que cada concepto teórico aterrice en una decisión concreta. Cuando hablemos</a:t>
            </a:r>
          </a:p>
          <a:p>
            <a:r>
              <a:t>de tokens, calcularemos cuánto cuesta el asistente de TechCorp; cuando hablemos de on-premise, discutiremos si</a:t>
            </a:r>
          </a:p>
          <a:p>
            <a:r>
              <a:t>TechCorp puede enviar sus manuales técnicos a una API pública.</a:t>
            </a:r>
          </a:p>
          <a:p/>
          <a:p>
            <a:r>
              <a:t>Pregunte: ¿qué se parece y qué es distinto de su propia organización? Anote dos o tres respuestas en el tablero.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de la Sesión 1. Antes de avanzar, haga la pregunta diagnóstica de la siguiente diapositiva y dé 2 minutos</a:t>
            </a:r>
          </a:p>
          <a:p>
            <a:r>
              <a:t>para que escriban su respuesta. No corrija todavía: al final de la sesión compararemos.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Pida que respondan individualmente (encuesta o chat). Respuestas típicas: "busca en internet", "tiene una base de</a:t>
            </a:r>
          </a:p>
          <a:p>
            <a:r>
              <a:t>datos de respuestas", "entiende lo que le digo", "copia de Wikipedia".</a:t>
            </a:r>
          </a:p>
          <a:p/>
          <a:p>
            <a:r>
              <a:t>Todas son parcialmente incorrectas y eso es valioso: son exactamente los modelos mentales que llevan a malas</a:t>
            </a:r>
          </a:p>
          <a:p>
            <a:r>
              <a:t>decisiones de arquitectura. Por ejemplo, quien cree que "busca en una base de datos" esperará que nunca se equivoque;</a:t>
            </a:r>
          </a:p>
          <a:p>
            <a:r>
              <a:t>quien cree que "entiende" no verá la necesidad de validar sus respuestas.</a:t>
            </a:r>
          </a:p>
          <a:p/>
          <a:p>
            <a:r>
              <a:t>La respuesta correcta —que construiremos durante la sesión— es: el modelo calcula, token a token, cuál es la</a:t>
            </a:r>
          </a:p>
          <a:p>
            <a:r>
              <a:t>continuación más probable del texto, usando patrones aprendidos de enormes cantidades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Definición formal: un modelo de lenguaje es una función que asigna una probabilidad a secuencias de palabras o, de</a:t>
            </a:r>
          </a:p>
          <a:p>
            <a:r>
              <a:t>forma equivalente, que estima la probabilidad de la siguiente palabra dado el contexto previo: P(w_t | w_1 ... w_t-1).</a:t>
            </a:r>
          </a:p>
          <a:p/>
          <a:p>
            <a:r>
              <a:t>Use el ejemplo: "El cliente solicita un ___". Un buen modelo asigna alta probabilidad a "crédito" o "préstamo" y</a:t>
            </a:r>
          </a:p>
          <a:p>
            <a:r>
              <a:t>casi cero a "elefante". El gráfico muestra probabilidades ilustrativas.</a:t>
            </a:r>
          </a:p>
          <a:p/>
          <a:p>
            <a:r>
              <a:t>Punto clave: este concepto existe desde hace décadas (modelos de n-gramas en reconocimiento de voz de los años 80-90).</a:t>
            </a:r>
          </a:p>
          <a:p>
            <a:r>
              <a:t>Lo que cambió con los LLM no es la tarea —sigue siendo predecir el siguiente token— sino la ESCALA y la ARQUITECTURA</a:t>
            </a:r>
          </a:p>
          <a:p>
            <a:r>
              <a:t>con que se aprende esa función, lo que permite capturar gramática, hechos, estilo e incluso patrones de razonamiento.</a:t>
            </a:r>
          </a:p>
          <a:p/>
          <a:p>
            <a:r>
              <a:t>"Large" se refiere a dos cosas: número de parámetros (miles de millones) y volumen de datos de entrenamiento</a:t>
            </a:r>
          </a:p>
          <a:p>
            <a:r>
              <a:t>(billones de tokens).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Recorra la primera mitad de la historia. Mensaje: la IA conversacional NO nació en 2022.</a:t>
            </a:r>
          </a:p>
          <a:p/>
          <a:p>
            <a:r>
              <a:t>1950: Alan Turing propone el "juego de la imitación". 1966: ELIZA (Joseph Weizenbaum, MIT) simulaba a un</a:t>
            </a:r>
          </a:p>
          <a:p>
            <a:r>
              <a:t>psicoterapeuta con reglas de sustitución de texto; muchas personas creían que las entendía: el "efecto ELIZA" sigue</a:t>
            </a:r>
          </a:p>
          <a:p>
            <a:r>
              <a:t>vigente hoy.</a:t>
            </a:r>
          </a:p>
          <a:p/>
          <a:p>
            <a:r>
              <a:t>Años 90: modelos estadísticos de n-gramas: contar cuántas veces aparece una palabra después de otras. Funcionan, pero</a:t>
            </a:r>
          </a:p>
          <a:p>
            <a:r>
              <a:t>no generalizan: si una combinación nunca apareció, su probabilidad es cero.</a:t>
            </a:r>
          </a:p>
          <a:p/>
          <a:p>
            <a:r>
              <a:t>2003: Yoshua Bengio y colegas proponen un modelo neuronal de lenguaje que representa cada palabra como un vector</a:t>
            </a:r>
          </a:p>
          <a:p>
            <a:r>
              <a:t>aprendido. 2013: word2vec (Mikolov, Google) populariza los embeddings. 2014: las redes recurrentes (LSTM) con el</a:t>
            </a:r>
          </a:p>
          <a:p>
            <a:r>
              <a:t>mecanismo de atención (Bahdanau et al.) revolucionan la traducción automática.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Segunda mitad. 2017: ocho investigadores de Google publican "Attention Is All You Need" y presentan el Transformer.</a:t>
            </a:r>
          </a:p>
          <a:p>
            <a:r>
              <a:t>Es el punto de inflexión: todos los LLM actuales descienden de esta arquitectura.</a:t>
            </a:r>
          </a:p>
          <a:p/>
          <a:p>
            <a:r>
              <a:t>2018: OpenAI publica GPT (usa solo el decoder) y Google publica BERT (usa solo el encoder). Nace el paradigma</a:t>
            </a:r>
          </a:p>
          <a:p>
            <a:r>
              <a:t>"pre-entrenar una vez, adaptar a muchas tareas". 2020: GPT-3 muestra que con suficiente escala el modelo aprende tareas</a:t>
            </a:r>
          </a:p>
          <a:p>
            <a:r>
              <a:t>nuevas con solo ver ejemplos en el prompt (few-shot).</a:t>
            </a:r>
          </a:p>
          <a:p/>
          <a:p>
            <a:r>
              <a:t>Noviembre 2022: ChatGPT. La tecnología no era nueva; lo nuevo fue el ajuste con instrucciones y retroalimentación</a:t>
            </a:r>
          </a:p>
          <a:p>
            <a:r>
              <a:t>humana (RLHF) y una interfaz de chat accesible para cualquiera.</a:t>
            </a:r>
          </a:p>
          <a:p/>
          <a:p>
            <a:r>
              <a:t>2023-2024: explosión de modelos, incluidos los de pesos abiertos (Llama), modelos multimodales y ventanas de contexto</a:t>
            </a:r>
          </a:p>
          <a:p>
            <a:r>
              <a:t>de un millón de tokens. 2025-2026: la industria se mueve hacia agentes; por ejemplo, Google renombró Vertex AI como</a:t>
            </a:r>
          </a:p>
          <a:p>
            <a:r>
              <a:t>Gemini Enterprise Agent Platform en abril de 2026. Lo veremos en el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Sintetice la historia en tres fuerzas que se refuerzan mutuamente:</a:t>
            </a:r>
          </a:p>
          <a:p/>
          <a:p>
            <a:r>
              <a:t>1) Representación: pasamos de tratar las palabras como símbolos sin relación ("banco" y "entidad financiera" son</a:t>
            </a:r>
          </a:p>
          <a:p>
            <a:r>
              <a:t>   distintas) a vectores donde la cercanía geométrica refleja similitud de significado.</a:t>
            </a:r>
          </a:p>
          <a:p/>
          <a:p>
            <a:r>
              <a:t>2) Arquitectura: las redes recurrentes leían palabra por palabra y "olvidaban" el inicio de textos largos. El</a:t>
            </a:r>
          </a:p>
          <a:p>
            <a:r>
              <a:t>   Transformer procesa toda la secuencia en paralelo y cada palabra puede relacionarse directamente con cualquier otra.</a:t>
            </a:r>
          </a:p>
          <a:p>
            <a:r>
              <a:t>   El paralelismo permitió aprovechar las GPU y entrenar con muchísimos más datos.</a:t>
            </a:r>
          </a:p>
          <a:p/>
          <a:p>
            <a:r>
              <a:t>3) Escala y alineamiento: las leyes de escala (Kaplan et al., 2020; Hoffmann et al., 2022) mostraron que el error</a:t>
            </a:r>
          </a:p>
          <a:p>
            <a:r>
              <a:t>   baja de forma predecible al aumentar parámetros, datos y cómputo. Pero un modelo grande solo "autocompleta"; el</a:t>
            </a:r>
          </a:p>
          <a:p>
            <a:r>
              <a:t>   ajuste con instrucciones y preferencias humanas (InstructGPT, 2022) lo convirtió en un asistente útil.</a:t>
            </a:r>
          </a:p>
          <a:p/>
          <a:p>
            <a:r>
              <a:t>Pregunta para la clase: ¿cuál de las tres fuerzas cree que tiene hoy más impacto en el costo de una solución?</a:t>
            </a:r>
          </a:p>
          <a:p>
            <a:r>
              <a:t>(Respuesta sugerida: la escala; más parámetros = más cómputo por token = más costo.)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qué es un embedding: una lista de números (un vector, típicamente de cientos a miles de dimensiones) que</a:t>
            </a:r>
          </a:p>
          <a:p>
            <a:r>
              <a:t>representa un token o un texto. El modelo aprende esos números de forma que palabras usadas en contextos similares</a:t>
            </a:r>
          </a:p>
          <a:p>
            <a:r>
              <a:t>queden cerca.</a:t>
            </a:r>
          </a:p>
          <a:p/>
          <a:p>
            <a:r>
              <a:t>El diagrama es una proyección en 2D (simplificada): los términos financieros forman un grupo, los de salud otro, los</a:t>
            </a:r>
          </a:p>
          <a:p>
            <a:r>
              <a:t>de manufactura otro. La relación famosa de word2vec: vector("rey") - vector("hombre") + vector("mujer") ≈ vector("reina").</a:t>
            </a:r>
          </a:p>
          <a:p/>
          <a:p>
            <a:r>
              <a:t>Por qué importa para un arquitecto: los embeddings son la base de la búsqueda semántica y de RAG. Dos textos sin</a:t>
            </a:r>
          </a:p>
          <a:p>
            <a:r>
              <a:t>palabras en común ("quiero un préstamo" y "requisitos de crédito") pueden quedar muy cerca. Lo veremos en el</a:t>
            </a:r>
          </a:p>
          <a:p>
            <a:r>
              <a:t>laboratorio de la Sesión 2 (pestaña "Encoder vs Decoder").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visualmente las dos arquitecturas.</a:t>
            </a:r>
          </a:p>
          <a:p/>
          <a:p>
            <a:r>
              <a:t>Red recurrente (RNN/LSTM): procesa un token a la vez y pasa un "estado oculto" al siguiente paso. Problemas: (1) es</a:t>
            </a:r>
          </a:p>
          <a:p>
            <a:r>
              <a:t>secuencial, no se puede paralelizar el entrenamiento; (2) la información del inicio se diluye en textos largos</a:t>
            </a:r>
          </a:p>
          <a:p>
            <a:r>
              <a:t>("memoria de corto plazo").</a:t>
            </a:r>
          </a:p>
          <a:p/>
          <a:p>
            <a:r>
              <a:t>Transformer: todos los tokens se procesan simultáneamente y cada uno puede "atender" directamente a cualquier otro,</a:t>
            </a:r>
          </a:p>
          <a:p>
            <a:r>
              <a:t>sin importar la distancia. Ventajas: paralelismo masivo en GPU (entrenar con muchos más datos) y dependencias de</a:t>
            </a:r>
          </a:p>
          <a:p>
            <a:r>
              <a:t>largo alcance.</a:t>
            </a:r>
          </a:p>
          <a:p/>
          <a:p>
            <a:r>
              <a:t>Costo oculto que un arquitecto debe conocer: la atención compara cada token con todos los demás, así que su costo</a:t>
            </a:r>
          </a:p>
          <a:p>
            <a:r>
              <a:t>crece aproximadamente con el cuadrado de la longitud del contexto. Por eso los contextos largos son más lentos y</a:t>
            </a:r>
          </a:p>
          <a:p>
            <a:r>
              <a:t>caros, y existen muchas optimizaciones (atención eficiente, caché KV).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gráfico usa escala logarítmica: cada línea horizontal es 10 veces la anterior. En cinco años el tamaño de los</a:t>
            </a:r>
          </a:p>
          <a:p>
            <a:r>
              <a:t>modelos publicados creció más de mil veces.</a:t>
            </a:r>
          </a:p>
          <a:p/>
          <a:p>
            <a:r>
              <a:t>Cifras públicas reportadas por sus autores: GPT-1 (117 millones, 2018), BERT-Large (340 millones, 2018), GPT-2 (1.500</a:t>
            </a:r>
          </a:p>
          <a:p>
            <a:r>
              <a:t>millones, 2019), T5 (11.000 millones, 2019), GPT-3 (175.000 millones, 2020), PaLM (540.000 millones, 2022),</a:t>
            </a:r>
          </a:p>
          <a:p>
            <a:r>
              <a:t>Llama 3.1 (405.000 millones, 2024). Muchos modelos comerciales recientes ya no publican su tamaño.</a:t>
            </a:r>
          </a:p>
          <a:p/>
          <a:p>
            <a:r>
              <a:t>Leyes de escala: Kaplan et al. (2020) mostraron que la pérdida disminuye de forma predecible (ley de potencias) al</a:t>
            </a:r>
          </a:p>
          <a:p>
            <a:r>
              <a:t>aumentar parámetros, datos y cómputo. Hoffmann et al. (2022, "Chinchilla") mostraron que muchos modelos estaban</a:t>
            </a:r>
          </a:p>
          <a:p>
            <a:r>
              <a:t>sub-entrenados: para un presupuesto de cómputo dado conviene equilibrar parámetros y datos (~20 tokens por parámetro).</a:t>
            </a:r>
          </a:p>
          <a:p/>
          <a:p>
            <a:r>
              <a:t>Implicación de arquitectura: más parámetros = más memoria y más cómputo por token = más costo y latencia. La</a:t>
            </a:r>
          </a:p>
          <a:p>
            <a:r>
              <a:t>tendencia actual no es solo "más grande", sino modelos más eficientes (MoE, destilación, modelos pequeños) y</a:t>
            </a:r>
          </a:p>
          <a:p>
            <a:r>
              <a:t>modelos de razonamiento que invierten cómputo en la inferencia.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las tres etapas con una analogía: el pre-entrenamiento es como leer toda una biblioteca (conocimiento</a:t>
            </a:r>
          </a:p>
          <a:p>
            <a:r>
              <a:t>general, pero sin saber qué le van a preguntar); el ajuste supervisado es como el entrenamiento de un nuevo empleado</a:t>
            </a:r>
          </a:p>
          <a:p>
            <a:r>
              <a:t>con ejemplos de "así se responde"; el alineamiento es la retroalimentación del jefe sobre qué respuestas son mejores.</a:t>
            </a:r>
          </a:p>
          <a:p/>
          <a:p>
            <a:r>
              <a:t>1) Pre-entrenamiento: aprendizaje autosupervisado sobre billones de tokens. El "profesor" es el mismo texto: se oculta</a:t>
            </a:r>
          </a:p>
          <a:p>
            <a:r>
              <a:t>   el siguiente token y el modelo intenta predecirlo. Es la etapa más cara (semanas o meses en miles de GPU).</a:t>
            </a:r>
          </a:p>
          <a:p>
            <a:r>
              <a:t>   Resultado: un modelo base que continúa textos pero no necesariamente obedece instrucciones.</a:t>
            </a:r>
          </a:p>
          <a:p/>
          <a:p>
            <a:r>
              <a:t>2) Ajuste supervisado (SFT): decenas o cientos de miles de ejemplos de instrucción→respuesta escritos o revisados por</a:t>
            </a:r>
          </a:p>
          <a:p>
            <a:r>
              <a:t>   personas. El modelo aprende el formato de "asistente".</a:t>
            </a:r>
          </a:p>
          <a:p/>
          <a:p>
            <a:r>
              <a:t>3) Alineamiento con preferencias (RLHF, DPO y variantes): personas comparan pares de respuestas; el modelo se ajusta</a:t>
            </a:r>
          </a:p>
          <a:p>
            <a:r>
              <a:t>   para preferir respuestas útiles, honestas e inofensivas.</a:t>
            </a:r>
          </a:p>
          <a:p/>
          <a:p>
            <a:r>
              <a:t>Implicación: las organizaciones casi nunca hacen la etapa 1. Pueden hacer ajuste fino (etapa 2) con sus datos, pero en</a:t>
            </a:r>
          </a:p>
          <a:p>
            <a:r>
              <a:t>la mayoría de los casos basta con buen diseño de prompts y RAG. Lo veremos en capítulos posteriores.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al tema 2. Vamos a abrir la "caja negra". No necesitamos las matemáticas completas, pero sí un modelo</a:t>
            </a:r>
          </a:p>
          <a:p>
            <a:r>
              <a:t>mental preciso de cada componente, porque cada uno tiene consecuencias de costo, latencia y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diagrama más importante de la sesión. Recórralo de izquierda a derecha:</a:t>
            </a:r>
          </a:p>
          <a:p/>
          <a:p>
            <a:r>
              <a:t>1. Texto: lo que escribe el usuario (más las instrucciones de sistema).</a:t>
            </a:r>
          </a:p>
          <a:p>
            <a:r>
              <a:t>2. Tokenizador: divide el texto en tokens y los convierte en números enteros (IDs).</a:t>
            </a:r>
          </a:p>
          <a:p>
            <a:r>
              <a:t>3. Embeddings + posición: cada ID se convierte en un vector; se suma información de la posición porque la atención,</a:t>
            </a:r>
          </a:p>
          <a:p>
            <a:r>
              <a:t>   por sí sola, no sabe en qué orden están las palabras.</a:t>
            </a:r>
          </a:p>
          <a:p>
            <a:r>
              <a:t>4. N bloques Transformer (decenas en un LLM moderno): cada bloque refina la representación de cada token usando</a:t>
            </a:r>
          </a:p>
          <a:p>
            <a:r>
              <a:t>   atención (mira a los otros tokens) y una red feed-forward (transforma la información).</a:t>
            </a:r>
          </a:p>
          <a:p>
            <a:r>
              <a:t>5. Capa de salida + softmax: produce una probabilidad para CADA token del vocabulario (100-200 mil opciones).</a:t>
            </a:r>
          </a:p>
          <a:p>
            <a:r>
              <a:t>6. Decodificación: se elige un token según los parámetros (temperatura, top-p), se agrega al texto y el ciclo se</a:t>
            </a:r>
          </a:p>
          <a:p>
            <a:r>
              <a:t>   repite. Esto se llama generación autorregresiva.</a:t>
            </a:r>
          </a:p>
          <a:p/>
          <a:p>
            <a:r>
              <a:t>El bucle de retorno es clave: generar 500 tokens implica 500 pasadas por el modelo. Por eso la salida es más cara y</a:t>
            </a:r>
          </a:p>
          <a:p>
            <a:r>
              <a:t>lenta que la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token NO es una palabra. Los tokenizadores modernos (BPE, Byte-Pair Encoding) construyen un vocabulario fijo con</a:t>
            </a:r>
          </a:p>
          <a:p>
            <a:r>
              <a:t>los fragmentos de texto más frecuentes del corpus de entrenamiento. Palabras comunes son un solo token; palabras raras</a:t>
            </a:r>
          </a:p>
          <a:p>
            <a:r>
              <a:t>o largas se dividen en varios.</a:t>
            </a:r>
          </a:p>
          <a:p/>
          <a:p>
            <a:r>
              <a:t>Consecuencias prácticas:</a:t>
            </a:r>
          </a:p>
          <a:p>
            <a:r>
              <a:t>- El español y otros idiomas distintos del inglés suelen necesitar más tokens para el mismo contenido, porque los</a:t>
            </a:r>
          </a:p>
          <a:p>
            <a:r>
              <a:t>  vocabularios se construyeron con corpus mayoritariamente en inglés. Más tokens = más costo y más uso de contexto.</a:t>
            </a:r>
          </a:p>
          <a:p>
            <a:r>
              <a:t>- Los números, el código y los emojis pueden fragmentarse de formas inesperadas, lo que explica algunos errores</a:t>
            </a:r>
          </a:p>
          <a:p>
            <a:r>
              <a:t>  aritméticos de los LLM.</a:t>
            </a:r>
          </a:p>
          <a:p>
            <a:r>
              <a:t>- Cada familia de modelos tiene su propio tokenizador: el mismo texto puede costar distinto en cada proveedor.</a:t>
            </a:r>
          </a:p>
          <a:p/>
          <a:p>
            <a:r>
              <a:t>Regla práctica: en español, 1 palabra ≈ 1,3-1,6 tokens; 1 página ≈ 600-800 tokens.</a:t>
            </a:r>
          </a:p>
          <a:p/>
          <a:p>
            <a:r>
              <a:t>Laboratorio: pestaña "2 · Tokens" del LLM Lab y script labs/sesion1/03.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Intuición: en la frase "El banco rechazó la solicitud del cliente porque ella no cumplía los requisitos", ¿a qué se</a:t>
            </a:r>
          </a:p>
          <a:p>
            <a:r>
              <a:t>refiere "ella"? Un humano sabe que es "la solicitud". La auto-atención permite que el modelo, al procesar "ella",</a:t>
            </a:r>
          </a:p>
          <a:p>
            <a:r>
              <a:t>asigne más peso a "solicitud" que a "banco" o "cliente". Las líneas del diagrama representan esos pesos (más gruesa =</a:t>
            </a:r>
          </a:p>
          <a:p>
            <a:r>
              <a:t>más atención; valores ilustrativos).</a:t>
            </a:r>
          </a:p>
          <a:p/>
          <a:p>
            <a:r>
              <a:t>Mecánica (sin matemáticas pesadas): de cada token se derivan tres vectores:</a:t>
            </a:r>
          </a:p>
          <a:p>
            <a:r>
              <a:t>- Query (Q, consulta): "¿qué estoy buscando?"</a:t>
            </a:r>
          </a:p>
          <a:p>
            <a:r>
              <a:t>- Key (K, clave): "¿qué ofrezco?"</a:t>
            </a:r>
          </a:p>
          <a:p>
            <a:r>
              <a:t>- Value (V, valor): "la información que aporto".</a:t>
            </a:r>
          </a:p>
          <a:p>
            <a:r>
              <a:t>Se compara la consulta de un token con las claves de todos los demás (producto punto), se normaliza con softmax para</a:t>
            </a:r>
          </a:p>
          <a:p>
            <a:r>
              <a:t>obtener pesos que suman 1, y se hace un promedio ponderado de los valores.</a:t>
            </a:r>
          </a:p>
          <a:p/>
          <a:p>
            <a:r>
              <a:t>Fórmula (Vaswani et al., 2017): Atención(Q, K, V) = softmax(Q·Kᵀ / √d) · V</a:t>
            </a:r>
          </a:p>
          <a:p/>
          <a:p>
            <a:r>
              <a:t>Multi-cabeza: el modelo tiene varias "cabezas" de atención en paralelo; cada una aprende a fijarse en un tipo de</a:t>
            </a:r>
          </a:p>
          <a:p>
            <a:r>
              <a:t>relación distinto (gramática, referencias, tema...).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Muestre la estructura de un bloque (decoder, como en GPT/Llama):</a:t>
            </a:r>
          </a:p>
          <a:p/>
          <a:p>
            <a:r>
              <a:t>1. Auto-atención multi-cabeza (enmascarada en los decoders: cada token solo ve los anteriores).</a:t>
            </a:r>
          </a:p>
          <a:p>
            <a:r>
              <a:t>2. Suma residual y normalización: la entrada del bloque se suma a su salida. Esto permite apilar muchas capas sin que</a:t>
            </a:r>
          </a:p>
          <a:p>
            <a:r>
              <a:t>   la señal se degrade durante el entrenamiento.</a:t>
            </a:r>
          </a:p>
          <a:p>
            <a:r>
              <a:t>3. Red feed-forward (MLP): se aplica a cada token por separado. Investigaciones sugieren que aquí se almacena buena</a:t>
            </a:r>
          </a:p>
          <a:p>
            <a:r>
              <a:t>   parte del "conocimiento factual" del modelo.</a:t>
            </a:r>
          </a:p>
          <a:p>
            <a:r>
              <a:t>4. De nuevo suma residual y normalización.</a:t>
            </a:r>
          </a:p>
          <a:p/>
          <a:p>
            <a:r>
              <a:t>Este bloque se repite decenas de veces (p. ej. 32, 80 o más capas). Las primeras capas capturan patrones superficiales</a:t>
            </a:r>
          </a:p>
          <a:p>
            <a:r>
              <a:t>(sintaxis); las últimas, relaciones más abstractas.</a:t>
            </a:r>
          </a:p>
          <a:p/>
          <a:p>
            <a:r>
              <a:t>Dato de arquitectura: "parámetros" = todos los pesos de estas matrices. Un modelo de 8 mil millones de parámetros en</a:t>
            </a:r>
          </a:p>
          <a:p>
            <a:r>
              <a:t>16 bits ocupa ~16 GB de memoria solo para los pesos; con cuantización a 4 bits, ~4-5 GB. Por eso llama3.2:3b corre en</a:t>
            </a:r>
          </a:p>
          <a:p>
            <a:r>
              <a:t>una laptop y un modelo de 70B requiere GPU dedicadas.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final del modelo, la capa de salida produce un número (logit) para cada token del vocabulario; la función softmax</a:t>
            </a:r>
          </a:p>
          <a:p>
            <a:r>
              <a:t>los convierte en probabilidades que suman 1.</a:t>
            </a:r>
          </a:p>
          <a:p/>
          <a:p>
            <a:r>
              <a:t>Luego hay que ELEGIR un token. Estrategias:</a:t>
            </a:r>
          </a:p>
          <a:p>
            <a:r>
              <a:t>- Greedy (temperatura 0): siempre el más probable. Determinista, pero puede ser repetitivo.</a:t>
            </a:r>
          </a:p>
          <a:p>
            <a:r>
              <a:t>- Muestreo: elegir al azar respetando las probabilidades.</a:t>
            </a:r>
          </a:p>
          <a:p/>
          <a:p>
            <a:r>
              <a:t>La temperatura divide los logits antes del softmax:</a:t>
            </a:r>
          </a:p>
          <a:p>
            <a:r>
              <a:t>- T &lt; 1 concentra la probabilidad en los tokens más probables (más conservador).</a:t>
            </a:r>
          </a:p>
          <a:p>
            <a:r>
              <a:t>- T &gt; 1 aplana la distribución (más variedad, más riesgo de incoherencia).</a:t>
            </a:r>
          </a:p>
          <a:p/>
          <a:p>
            <a:r>
              <a:t>El gráfico muestra cómo cambia la misma distribución con T = 0,5, 1,0 y 1,5 (cálculo real sobre probabilidades</a:t>
            </a:r>
          </a:p>
          <a:p>
            <a:r>
              <a:t>ilustrativas). Con T=1,5, "elefante" pasa de 1% a una probabilidad visible: así aparecen respuestas extrañas.</a:t>
            </a:r>
          </a:p>
          <a:p/>
          <a:p>
            <a:r>
              <a:t>Laboratorio: script labs/sesion1/02 (modelo de bigramas sin GPU) y labs/sesion1/04 (modelo real).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Estos parámetros se envían en cada llamada a la API y son decisiones de diseño, no detalles técnicos:</a:t>
            </a:r>
          </a:p>
          <a:p/>
          <a:p>
            <a:r>
              <a:t>- Temperatura: ya la vimos. Valores típicos: 0-0,3 para tareas deterministas; 0,5-0,8 para conversación; 0,9-1,2 para</a:t>
            </a:r>
          </a:p>
          <a:p>
            <a:r>
              <a:t>  creatividad.</a:t>
            </a:r>
          </a:p>
          <a:p>
            <a:r>
              <a:t>- Top-p (nucleus sampling): solo considera el conjunto mínimo de tokens cuya probabilidad acumulada llega a p. Con</a:t>
            </a:r>
          </a:p>
          <a:p>
            <a:r>
              <a:t>  p=0,9 se descarta la "cola" improbable. Se recomienda ajustar temperatura O top-p, no ambos agresivamente.</a:t>
            </a:r>
          </a:p>
          <a:p>
            <a:r>
              <a:t>- Top-k: solo considera los k tokens más probables.</a:t>
            </a:r>
          </a:p>
          <a:p>
            <a:r>
              <a:t>- Máximo de tokens de salida: limita longitud, costo y latencia. Si se alcanza, la respuesta se corta (finish_reason</a:t>
            </a:r>
          </a:p>
          <a:p>
            <a:r>
              <a:t>  = "length"). Es una de las palancas de costo más efectivas.</a:t>
            </a:r>
          </a:p>
          <a:p>
            <a:r>
              <a:t>- Semilla (seed): algunos proveedores la aceptan para mejorar la reproducibilidad, sin garantía absoluta.</a:t>
            </a:r>
          </a:p>
          <a:p>
            <a:r>
              <a:t>- Secuencias de parada (stop): cadenas que detienen la generación.</a:t>
            </a:r>
          </a:p>
          <a:p/>
          <a:p>
            <a:r>
              <a:t>Recalque: aun con temperatura 0, muchos proveedores no garantizan salidas idénticas bit a bit (por el paralelismo en</a:t>
            </a:r>
          </a:p>
          <a:p>
            <a:r>
              <a:t>GPU). Las pruebas de sistemas con LLM deben tolerar variaciones.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Cuando llamamos a un LLM ocurren dos fases con características muy distintas:</a:t>
            </a:r>
          </a:p>
          <a:p/>
          <a:p>
            <a:r>
              <a:t>1) Prefill: el modelo procesa todo el prompt de una vez, en paralelo. Su duración depende de la longitud de la</a:t>
            </a:r>
          </a:p>
          <a:p>
            <a:r>
              <a:t>   entrada. Determina el TIEMPO AL PRIMER TOKEN (TTFT), la métrica de latencia que más percibe el usuario.</a:t>
            </a:r>
          </a:p>
          <a:p/>
          <a:p>
            <a:r>
              <a:t>2) Decode: el modelo genera un token a la vez; cada token requiere una pasada completa. Su duración depende de la</a:t>
            </a:r>
          </a:p>
          <a:p>
            <a:r>
              <a:t>   cantidad de tokens de salida. Se mide en TOKENS POR SEGUNDO.</a:t>
            </a:r>
          </a:p>
          <a:p/>
          <a:p>
            <a:r>
              <a:t>Caché KV: para no recalcular la atención de los tokens anteriores en cada paso, se guardan sus claves y valores.</a:t>
            </a:r>
          </a:p>
          <a:p>
            <a:r>
              <a:t>Acelera mucho la generación, pero consume memoria proporcional al contexto: es una de las razones por las que los</a:t>
            </a:r>
          </a:p>
          <a:p>
            <a:r>
              <a:t>contextos largos son costosos.</a:t>
            </a:r>
          </a:p>
          <a:p/>
          <a:p>
            <a:r>
              <a:t>Ventana de contexto: el máximo de tokens (instrucciones + historial + documentos + respuesta) que el modelo puede</a:t>
            </a:r>
          </a:p>
          <a:p>
            <a:r>
              <a:t>considerar. Va de ~8 mil en modelos pequeños locales a más de un millón en algunos modelos de nube. Todo lo que no</a:t>
            </a:r>
          </a:p>
          <a:p>
            <a:r>
              <a:t>cabe, el modelo simplemente no lo ve.</a:t>
            </a:r>
          </a:p>
          <a:p/>
          <a:p>
            <a:r>
              <a:t>Streaming: enviar los tokens a medida que se generan no reduce el tiempo total, pero mejora mucho la experiencia porque</a:t>
            </a:r>
          </a:p>
          <a:p>
            <a:r>
              <a:t>el usuario empieza a leer tras el TTFT. En el LLM Lab lo verá en la pestaña Playground.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LLM es probabilístico, no determinista ni factual por diseño. Cada limitación tiene una respuesta ARQUITECTÓNICA</a:t>
            </a:r>
          </a:p>
          <a:p>
            <a:r>
              <a:t>(que veremos en los próximos capítulos):</a:t>
            </a:r>
          </a:p>
          <a:p/>
          <a:p>
            <a:r>
              <a:t>- Alucinaciones: el modelo genera lo plausible, no lo verdadero. Mitigación: RAG (anclar en documentos), exigir citas,</a:t>
            </a:r>
          </a:p>
          <a:p>
            <a:r>
              <a:t>  validación automática y revisión humana en decisiones críticas.</a:t>
            </a:r>
          </a:p>
          <a:p>
            <a:r>
              <a:t>- Fecha de corte: el conocimiento se congela al terminar el entrenamiento. Mitigación: herramientas de búsqueda y RAG.</a:t>
            </a:r>
          </a:p>
          <a:p>
            <a:r>
              <a:t>- No determinismo: salidas distintas ante la misma entrada. Mitigación: temperatura baja, salidas estructuradas (JSON</a:t>
            </a:r>
          </a:p>
          <a:p>
            <a:r>
              <a:t>  con esquema), pruebas con tolerancia.</a:t>
            </a:r>
          </a:p>
          <a:p>
            <a:r>
              <a:t>- Contexto finito: mitigación con fragmentación (chunking), resúmenes y recuperación selectiva.</a:t>
            </a:r>
          </a:p>
          <a:p>
            <a:r>
              <a:t>- Sesgos: el modelo refleja sesgos de sus datos. Mitigación: evaluación con casos representativos de la población</a:t>
            </a:r>
          </a:p>
          <a:p>
            <a:r>
              <a:t>  LATAM, guardarraíles, gobierno de IA.</a:t>
            </a:r>
          </a:p>
          <a:p>
            <a:r>
              <a:t>- Prompt injection: instrucciones maliciosas escondidas en la entrada o en documentos. Mitigación: separar</a:t>
            </a:r>
          </a:p>
          <a:p>
            <a:r>
              <a:t>  instrucciones de datos, filtros, principio de mínimo privilegio en herramientas.</a:t>
            </a:r>
          </a:p>
          <a:p/>
          <a:p>
            <a:r>
              <a:t>Mensaje: ninguna de estas limitaciones impide usar LLM en producción; obligan a diseñar alrededor de ellas.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al tema 3. Pasamos de "cómo funciona" a "por qué importa" y "dónde genera valor".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Ubique los LLM en el mapa: son un subconjunto de la IA generativa, que a su vez es parte del aprendizaje profundo</a:t>
            </a:r>
          </a:p>
          <a:p>
            <a:r>
              <a:t>(redes neuronales con muchas capas), que es parte del aprendizaje automático, que es parte de la IA.</a:t>
            </a:r>
          </a:p>
          <a:p/>
          <a:p>
            <a:r>
              <a:t>Esto evita dos confusiones frecuentes en las organizaciones:</a:t>
            </a:r>
          </a:p>
          <a:p>
            <a:r>
              <a:t>1) "IA = ChatGPT". No: hay IA predictiva clásica (scoring de crédito, detección de fraude, pronóstico de demanda) que</a:t>
            </a:r>
          </a:p>
          <a:p>
            <a:r>
              <a:t>   sigue siendo la mejor opción para muchos problemas estructurados y es mucho más barata.</a:t>
            </a:r>
          </a:p>
          <a:p>
            <a:r>
              <a:t>2) "Los LLM reemplazan todo". No: un LLM es excelente con lenguaje no estructurado, pero para predecir una variable</a:t>
            </a:r>
          </a:p>
          <a:p>
            <a:r>
              <a:t>   numérica a partir de datos tabulares, un modelo clásico suele ser más preciso, explicable y económico.</a:t>
            </a:r>
          </a:p>
          <a:p/>
          <a:p>
            <a:r>
              <a:t>Pregunta: ¿qué problema de su organización resolvería mejor con IA clásica que con un LLM?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los modelos fundacionales, cada tarea de lenguaje requería su propio proyecto: recolectar y etiquetar datos,</a:t>
            </a:r>
          </a:p>
          <a:p>
            <a:r>
              <a:t>entrenar un modelo, desplegarlo y mantenerlo. Un clasificador de correos, otro de sentimiento, otro de extracción.</a:t>
            </a:r>
          </a:p>
          <a:p/>
          <a:p>
            <a:r>
              <a:t>Con los modelos fundacionales (término acuñado por el Stanford CRFM en 2021), un único modelo pre-entrenado resuelve</a:t>
            </a:r>
          </a:p>
          <a:p>
            <a:r>
              <a:t>cientos de tareas con instrucciones en lenguaje natural y, cuando hace falta, algunos ejemplos en el prompt.</a:t>
            </a:r>
          </a:p>
          <a:p/>
          <a:p>
            <a:r>
              <a:t>Consecuencia para las organizaciones: el cuello de botella se desplaza de la CIENCIA DE DATOS a la ARQUITECTURA DE</a:t>
            </a:r>
          </a:p>
          <a:p>
            <a:r>
              <a:t>SOLUCIONES: integración con sistemas existentes, preparación de datos, seguridad, costos, observabilidad,</a:t>
            </a:r>
          </a:p>
          <a:p>
            <a:r>
              <a:t>disponibilidad y cumplimiento. Exactamente el foco de este curso.</a:t>
            </a:r>
          </a:p>
          <a:p/>
          <a:p>
            <a:r>
              <a:t>Advertencia: "sin entrenar" no significa "sin esfuerzo". La evaluación de calidad con datos propios sigue siendo</a:t>
            </a:r>
          </a:p>
          <a:p>
            <a:r>
              <a:t>imprescindible.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Recorra los sectores con ejemplos de patrones de uso (no de empresas específicas). Pida a los participantes que</a:t>
            </a:r>
          </a:p>
          <a:p>
            <a:r>
              <a:t>identifiquen su sector y propongan un caso adicional.</a:t>
            </a:r>
          </a:p>
          <a:p/>
          <a:p>
            <a:r>
              <a:t>- Financiero: asistentes de atención 24/7, análisis documental para conocimiento del cliente (KYC), apoyo a áreas de</a:t>
            </a:r>
          </a:p>
          <a:p>
            <a:r>
              <a:t>  cumplimiento (prevención de lavado de activos), explicación de productos en lenguaje claro.</a:t>
            </a:r>
          </a:p>
          <a:p>
            <a:r>
              <a:t>- Público: respuesta y clasificación de PQRS, orientación en trámites, traducción de normas a lenguaje claro,</a:t>
            </a:r>
          </a:p>
          <a:p>
            <a:r>
              <a:t>  análisis de grandes volúmenes de documentos.</a:t>
            </a:r>
          </a:p>
          <a:p>
            <a:r>
              <a:t>- Salud: resúmenes de historias clínicas, apoyo a codificación diagnóstica (CIE-10), gestión de citas, material</a:t>
            </a:r>
          </a:p>
          <a:p>
            <a:r>
              <a:t>  educativo para pacientes. Siempre con validación clínica.</a:t>
            </a:r>
          </a:p>
          <a:p>
            <a:r>
              <a:t>- Manufactura (caso TechCorp): mesa de ayuda de TI, consulta de manuales técnicos, análisis de reportes de calidad.</a:t>
            </a:r>
          </a:p>
          <a:p>
            <a:r>
              <a:t>- Educación: tutores personalizados, generación de material, retroalimentación de escritura.</a:t>
            </a:r>
          </a:p>
          <a:p>
            <a:r>
              <a:t>- Comercio: descripciones de producto, análisis de reseñas, asistentes de compra.</a:t>
            </a:r>
          </a:p>
          <a:p/>
          <a:p>
            <a:r>
              <a:t>Patrón común: el mayor valor aparece donde hay mucho TEXTO no estructurado y procesos repetitivos basados en</a:t>
            </a:r>
          </a:p>
          <a:p>
            <a:r>
              <a:t>conocimiento.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conceptual del tema: un LLM por sí solo no es una solución empresarial. La solución es la arquitectura que lo</a:t>
            </a:r>
          </a:p>
          <a:p>
            <a:r>
              <a:t>rodea. El objetivo general del curso menciona explícitamente escalabilidad, seguridad y disponibilidad.</a:t>
            </a:r>
          </a:p>
          <a:p/>
          <a:p>
            <a:r>
              <a:t>Recorra las dimensiones de calidad (atributos no funcionales) que el arquitecto debe balancear:</a:t>
            </a:r>
          </a:p>
          <a:p>
            <a:r>
              <a:t>calidad de respuesta, costo, latencia, seguridad y privacidad, disponibilidad, escalabilidad, observabilidad y</a:t>
            </a:r>
          </a:p>
          <a:p>
            <a:r>
              <a:t>cumplimiento.</a:t>
            </a:r>
          </a:p>
          <a:p/>
          <a:p>
            <a:r>
              <a:t>No existe la opción que maximice todas: un modelo más grande mejora la calidad pero empeora costo y latencia; un modelo</a:t>
            </a:r>
          </a:p>
          <a:p>
            <a:r>
              <a:t>on-premise mejora la privacidad pero exige más operación. Toda la Sesión 2 trata sobre cómo tomar esas decisiones.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Nombre los ejercicios; el detalle y el código están en el repositorio (carpeta labs/sesion1 y la aplicación LLM Lab).</a:t>
            </a:r>
          </a:p>
          <a:p>
            <a:r>
              <a:t>Cada ejercicio conecta con un concepto teórico de la sesión:</a:t>
            </a:r>
          </a:p>
          <a:p/>
          <a:p>
            <a:r>
              <a:t>- Lab 01 · Anatomía de una llamada: ver la petición HTTP y la respuesta de Ollama; identificar tokens de entrada y</a:t>
            </a:r>
          </a:p>
          <a:p>
            <a:r>
              <a:t>  salida, tiempo de carga, prefill y decode.</a:t>
            </a:r>
          </a:p>
          <a:p>
            <a:r>
              <a:t>- Lab 02 · Predicción del siguiente token: un modelo de bigramas de 40 líneas que funciona sin GPU; muestra la</a:t>
            </a:r>
          </a:p>
          <a:p>
            <a:r>
              <a:t>  distribución de probabilidad y el efecto de la temperatura.</a:t>
            </a:r>
          </a:p>
          <a:p>
            <a:r>
              <a:t>- Lab 03 · Tokens, contexto y costo: español vs. inglés, fragmentación de palabras y cálculo de costo.</a:t>
            </a:r>
          </a:p>
          <a:p>
            <a:r>
              <a:t>- Lab 04 · Temperatura en un modelo real.</a:t>
            </a:r>
          </a:p>
          <a:p>
            <a:r>
              <a:t>- LLM Lab (React + FastAPI): pestañas Playground y Tokens.</a:t>
            </a:r>
          </a:p>
          <a:p/>
          <a:p>
            <a:r>
              <a:t>Requisito: haber seguido docs/00_instalacion_ubuntu.md (Python 3.12, Ollama con llama3.2:3b). Plan B para equipos sin</a:t>
            </a:r>
          </a:p>
          <a:p>
            <a:r>
              <a:t>recursos: make simulado.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Entregable individual (1-2 páginas):</a:t>
            </a:r>
          </a:p>
          <a:p>
            <a:r>
              <a:t>1) Capturas de los labs 01 y 04 con una interpretación de las métricas.</a:t>
            </a:r>
          </a:p>
          <a:p>
            <a:r>
              <a:t>2) Tabla con 3 frases reales de su organización: tokens en español vs. inglés.</a:t>
            </a:r>
          </a:p>
          <a:p>
            <a:r>
              <a:t>3) Respuesta argumentada: ¿qué temperatura usaría para un asistente que extrae datos de facturas y por qué?</a:t>
            </a:r>
          </a:p>
          <a:p/>
          <a:p>
            <a:r>
              <a:t>La rúbrica prioriza la comprensión conceptual y la capacidad de relacionar los conceptos con decisiones de costo y</a:t>
            </a:r>
          </a:p>
          <a:p>
            <a:r>
              <a:t>calidad, no la cantidad de código.</a:t>
            </a:r>
          </a:p>
          <a:p/>
          <a:p>
            <a:r>
              <a:t>Además hay un quiz de 10 preguntas con retroalimentación (docs/03_evaluacion_sesiones_1_2.md).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Vuelva a la pregunta inicial ("¿qué ocurre cuando escribe en un chatbot?") y pida a dos participantes que la respondan</a:t>
            </a:r>
          </a:p>
          <a:p>
            <a:r>
              <a:t>de nuevo con lo aprendido.</a:t>
            </a:r>
          </a:p>
          <a:p/>
          <a:p>
            <a:r>
              <a:t>Tres ideas:</a:t>
            </a:r>
          </a:p>
          <a:p>
            <a:r>
              <a:t>1) Un LLM predice el siguiente token; no busca ni "sabe". Por eso hay que diseñar para sus errores.</a:t>
            </a:r>
          </a:p>
          <a:p>
            <a:r>
              <a:t>2) Todo se mide en tokens: el costo, la latencia y el límite de contexto. El token es la unidad económica de la IA</a:t>
            </a:r>
          </a:p>
          <a:p>
            <a:r>
              <a:t>   generativa.</a:t>
            </a:r>
          </a:p>
          <a:p>
            <a:r>
              <a:t>3) El LLM es un componente; el valor y el riesgo están en la arquitectura que lo rodea.</a:t>
            </a:r>
          </a:p>
          <a:p/>
          <a:p>
            <a:r>
              <a:t>Próxima sesión: tipos de modelos (¿por qué hay modelos que no generan texto?), dónde ejecutarlos, cuánto cuestan y cómo</a:t>
            </a:r>
          </a:p>
          <a:p>
            <a:r>
              <a:t>elegir. Tarea previa: pensar en un caso de uso de su organización para usarlo en la matriz de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Inicio de la Sesión 2. Recapitule en un minuto la sesión anterior: un LLM predice el siguiente token; todo se mide en</a:t>
            </a:r>
          </a:p>
          <a:p>
            <a:r>
              <a:t>tokens; el LLM es un componente de una arquitectura.</a:t>
            </a:r>
          </a:p>
          <a:p/>
          <a:p>
            <a:r>
              <a:t>Hoy damos el paso de "entender" a "elegir": qué tipo de modelo, desplegado dónde, a qué costo.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 los objetivos. Observe que suben de nivel en la taxonomía de Bloom respecto a la Sesión 1: ahora pedimos analizar</a:t>
            </a:r>
          </a:p>
          <a:p>
            <a:r>
              <a:t>y evaluar, es decir, tomar decisiones justificadas. Este es el objetivo de desempeño del módulo: explicar criterios de</a:t>
            </a:r>
          </a:p>
          <a:p>
            <a:r>
              <a:t>adopción y seleccionar la mejor alternativa valorando implicaciones económicas y técnicas.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 3 minutos para discutir en parejas. Pista: ¿qué necesita un buscador? Necesita COMPARAR significados, no producir</a:t>
            </a:r>
          </a:p>
          <a:p>
            <a:r>
              <a:t>frases nuevas.</a:t>
            </a:r>
          </a:p>
          <a:p/>
          <a:p>
            <a:r>
              <a:t>Respuesta esperada: para buscar documentos por significado basta con convertir consultas y documentos en vectores</a:t>
            </a:r>
          </a:p>
          <a:p>
            <a:r>
              <a:t>(embeddings) y medir su cercanía. Eso lo hace un modelo encoder, mucho más pequeño, rápido y barato que un modelo</a:t>
            </a:r>
          </a:p>
          <a:p>
            <a:r>
              <a:t>generativo. Usar un LLM generativo para esa tarea sería como usar un camión de carga para llevar una carta.</a:t>
            </a:r>
          </a:p>
          <a:p/>
          <a:p>
            <a:r>
              <a:t>Esta pregunta introduce la idea central del tema 1: existen distintas familias de modelos, cada una optimizada para un</a:t>
            </a:r>
          </a:p>
          <a:p>
            <a:r>
              <a:t>tipo de tarea.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Transformer de 2017 se diseñó para traducción automática y tenía dos mitades:</a:t>
            </a:r>
          </a:p>
          <a:p/>
          <a:p>
            <a:r>
              <a:t>- ENCODER (izquierda): lee la frase de entrada completa ("The bank approved the loan") y produce una representación</a:t>
            </a:r>
          </a:p>
          <a:p>
            <a:r>
              <a:t>  rica de cada token. Su atención es BIDIRECCIONAL: cada palabra ve todas las demás, antes y después.</a:t>
            </a:r>
          </a:p>
          <a:p/>
          <a:p>
            <a:r>
              <a:t>- DECODER (derecha): genera la traducción token a token ("El banco aprobó..."). Tiene dos tipos de atención:</a:t>
            </a:r>
          </a:p>
          <a:p>
            <a:r>
              <a:t>  (1) auto-atención CAUSAL o enmascarada sobre lo que ya generó (no puede ver el futuro, porque aún no existe) y</a:t>
            </a:r>
          </a:p>
          <a:p>
            <a:r>
              <a:t>  (2) atención CRUZADA hacia la salida del encoder, para "consultar" la frase original.</a:t>
            </a:r>
          </a:p>
          <a:p/>
          <a:p>
            <a:r>
              <a:t>Las tres familias de modelos actuales nacen de quedarse con una o ambas mitades:</a:t>
            </a:r>
          </a:p>
          <a:p>
            <a:r>
              <a:t>- Solo el encoder → BERT y los modelos de embeddings.</a:t>
            </a:r>
          </a:p>
          <a:p>
            <a:r>
              <a:t>- Solo el decoder → GPT, Llama, Gemini, Claude.</a:t>
            </a:r>
          </a:p>
          <a:p>
            <a:r>
              <a:t>- Ambos → T5, BART, Whisper.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diapositiva resume la diferencia técnica esencial con "matrices de atención". Cada fila es un token que procesa;</a:t>
            </a:r>
          </a:p>
          <a:p>
            <a:r>
              <a:t>cada columna, un token al que puede prestar atención. Celda coloreada = puede verlo.</a:t>
            </a:r>
          </a:p>
          <a:p/>
          <a:p>
            <a:r>
              <a:t>- Encoder-only: matriz completa. Cada token ve toda la frase → excelente para COMPRENDER (clasificar, buscar). Se</a:t>
            </a:r>
          </a:p>
          <a:p>
            <a:r>
              <a:t>  entrena ocultando palabras al azar y pidiendo que las adivine (masked language modeling). Salida natural: un vector.</a:t>
            </a:r>
          </a:p>
          <a:p/>
          <a:p>
            <a:r>
              <a:t>- Decoder-only: matriz triangular. Cada token solo ve los anteriores → puede GENERAR de izquierda a derecha. Se entrena</a:t>
            </a:r>
          </a:p>
          <a:p>
            <a:r>
              <a:t>  prediciendo el siguiente token. Salida natural: texto.</a:t>
            </a:r>
          </a:p>
          <a:p/>
          <a:p>
            <a:r>
              <a:t>- Encoder-decoder: el encoder ve todo (matriz completa) y el decoder genera con atención causal, consultando al encoder.</a:t>
            </a:r>
          </a:p>
          <a:p>
            <a:r>
              <a:t>  Ideal para TRANSFORMAR una secuencia en otra: traducir, resumir, transcribir.</a:t>
            </a:r>
          </a:p>
          <a:p/>
          <a:p>
            <a:r>
              <a:t>Pregunta rápida: ¿qué familia usaría para detectar tickets duplicados en la mesa de ayuda de TechCorp? (Encoder.)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BERT (Google, 2018) es el representante clásico. Se pre-entrena con "masked language modeling": se ocultan ~15% de las</a:t>
            </a:r>
          </a:p>
          <a:p>
            <a:r>
              <a:t>palabras y el modelo debe adivinarlas usando el contexto de ambos lados. Por eso "entiende" muy bien el significado</a:t>
            </a:r>
          </a:p>
          <a:p>
            <a:r>
              <a:t>de cada palabra en su contexto.</a:t>
            </a:r>
          </a:p>
          <a:p/>
          <a:p>
            <a:r>
              <a:t>Salida: un vector por token o un vector para todo el texto (embedding). Sobre ese vector se construyen:</a:t>
            </a:r>
          </a:p>
          <a:p>
            <a:r>
              <a:t>- Búsqueda semántica y RAG (recuperar los documentos relevantes).</a:t>
            </a:r>
          </a:p>
          <a:p>
            <a:r>
              <a:t>- Clasificación (enrutar PQRS, detectar sentimiento o intención).</a:t>
            </a:r>
          </a:p>
          <a:p>
            <a:r>
              <a:t>- Detección de duplicados y agrupamiento (clustering) de tickets o reclamos.</a:t>
            </a:r>
          </a:p>
          <a:p>
            <a:r>
              <a:t>- Reconocimiento de entidades (nombres, cédulas, montos) para anonimizar datos.</a:t>
            </a:r>
          </a:p>
          <a:p/>
          <a:p>
            <a:r>
              <a:t>Ventajas para el arquitecto: modelos pequeños (cientos de millones de parámetros), rápidos, baratos, que corren en</a:t>
            </a:r>
          </a:p>
          <a:p>
            <a:r>
              <a:t>CPU y son fáciles de desplegar on-premise. Limitación: no generan texto ni siguen instrucciones.</a:t>
            </a:r>
          </a:p>
          <a:p/>
          <a:p>
            <a:r>
              <a:t>Laboratorio: LLM Lab pestaña 3 y labs/sesion2/01 (nomic-embed-text en Ollama).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GPT, Llama, Gemini, Claude, Mistral, Qwen y DeepSeek son decoder-only. ¿Por qué ganaron?</a:t>
            </a:r>
          </a:p>
          <a:p/>
          <a:p>
            <a:r>
              <a:t>1) Objetivo simple y universal: predecir el siguiente token funciona con cualquier texto sin etiquetar; escala con</a:t>
            </a:r>
          </a:p>
          <a:p>
            <a:r>
              <a:t>   datos prácticamente ilimitados.</a:t>
            </a:r>
          </a:p>
          <a:p>
            <a:r>
              <a:t>2) Generalidad: cualquier tarea se puede expresar como "continuar un texto" (clasificar, resumir, traducir, programar).</a:t>
            </a:r>
          </a:p>
          <a:p>
            <a:r>
              <a:t>3) Aprendizaje en contexto: con instrucciones o ejemplos en el prompt aprenden tareas nuevas sin reentrenar.</a:t>
            </a:r>
          </a:p>
          <a:p>
            <a:r>
              <a:t>4) Escala: las leyes de escala se demostraron especialmente en esta familia.</a:t>
            </a:r>
          </a:p>
          <a:p/>
          <a:p>
            <a:r>
              <a:t>Costos para el arquitecto: son los modelos más grandes; generan token a token (latencia proporcional a la salida); el</a:t>
            </a:r>
          </a:p>
          <a:p>
            <a:r>
              <a:t>costo se cobra por tokens de entrada y salida; y necesitan guardarraíles porque pueden alucinar.</a:t>
            </a:r>
          </a:p>
          <a:p/>
          <a:p>
            <a:r>
              <a:t>Nota: muchos decoder-only modernos son multimodales (reciben imágenes, audio) y algunos son "modelos de razonamiento"</a:t>
            </a:r>
          </a:p>
          <a:p>
            <a:r>
              <a:t>que generan pasos intermedios antes de la respuesta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modelos encoder-decoder conservan las dos mitades. El encoder comprende la entrada completa y el decoder genera la</a:t>
            </a:r>
          </a:p>
          <a:p>
            <a:r>
              <a:t>salida consultándola con atención cruzada. Son naturales cuando entrada y salida son secuencias DIFERENTES:</a:t>
            </a:r>
          </a:p>
          <a:p/>
          <a:p>
            <a:r>
              <a:t>- Traducción (el caso original del Transformer).</a:t>
            </a:r>
          </a:p>
          <a:p>
            <a:r>
              <a:t>- Resumen (T5, BART): documento largo → resumen corto.</a:t>
            </a:r>
          </a:p>
          <a:p>
            <a:r>
              <a:t>- Transcripción de voz (Whisper): audio → texto. Muy relevante en LATAM para centros de contacto.</a:t>
            </a:r>
          </a:p>
          <a:p>
            <a:r>
              <a:t>- Corrección y reescritura: texto → texto en lenguaje claro.</a:t>
            </a:r>
          </a:p>
          <a:p/>
          <a:p>
            <a:r>
              <a:t>T5 (Google, 2019) propuso tratar TODA tarea como "texto a texto": "resume: ...", "traduce al inglés: ...".</a:t>
            </a:r>
          </a:p>
          <a:p/>
          <a:p>
            <a:r>
              <a:t>En la práctica actual, muchos casos de resumen y traducción se resuelven con decoder-only grandes por conveniencia,</a:t>
            </a:r>
          </a:p>
          <a:p>
            <a:r>
              <a:t>pero los encoder-decoder especializados siguen siendo más eficientes cuando la tarea es fija y de alto volumen (por</a:t>
            </a:r>
          </a:p>
          <a:p>
            <a:r>
              <a:t>ejemplo, transcribir miles de horas de llamadas).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Guía práctica (no absoluta):</a:t>
            </a:r>
          </a:p>
          <a:p/>
          <a:p>
            <a:r>
              <a:t>1) ¿La salida es texto nuevo y libre (redactar, conversar, razonar, programar)? → decoder-only.</a:t>
            </a:r>
          </a:p>
          <a:p>
            <a:r>
              <a:t>2) ¿La salida es una etiqueta, un puntaje o una búsqueda (clasificar, recuperar, agrupar, detectar duplicados)? →</a:t>
            </a:r>
          </a:p>
          <a:p>
            <a:r>
              <a:t>   encoder-only (embeddings + un clasificador o una búsqueda por similitud).</a:t>
            </a:r>
          </a:p>
          <a:p>
            <a:r>
              <a:t>3) ¿La tarea es transformar una secuencia de un tipo o idioma en otra, con volumen alto y tarea fija (traducción,</a:t>
            </a:r>
          </a:p>
          <a:p>
            <a:r>
              <a:t>   voz a texto)? → encoder-decoder especializado.</a:t>
            </a:r>
          </a:p>
          <a:p/>
          <a:p>
            <a:r>
              <a:t>En arquitecturas reales se COMBINAN: un encoder recupera y clasifica; un decoder redacta la respuesta final.</a:t>
            </a:r>
          </a:p>
          <a:p/>
          <a:p>
            <a:r>
              <a:t>Ejercicio: clasifique en voz alta estos casos de TechCorp: (a) chatbot de mesa de ayuda (decoder); (b) detectar</a:t>
            </a:r>
          </a:p>
          <a:p>
            <a:r>
              <a:t>tickets duplicados (encoder); (c) transcribir llamadas de soporte (encoder-decoder); (d) buscar en 20.000 páginas de</a:t>
            </a:r>
          </a:p>
          <a:p>
            <a:r>
              <a:t>manuales (encoder para recuperar + decoder para responder).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variantes frecuentes en catálogos de proveedores:</a:t>
            </a:r>
          </a:p>
          <a:p/>
          <a:p>
            <a:r>
              <a:t>- Mezcla de expertos (MoE): el modelo tiene muchos "expertos" (sub-redes feed-forward) y un enrutador activa solo</a:t>
            </a:r>
          </a:p>
          <a:p>
            <a:r>
              <a:t>  algunos por token. Resultado: gran capacidad total con un costo de inferencia similar al de un modelo más pequeño.</a:t>
            </a:r>
          </a:p>
          <a:p>
            <a:r>
              <a:t>  Ejemplos públicos: Mixtral, DeepSeek-V3, varios modelos de Qwen y Llama 4.</a:t>
            </a:r>
          </a:p>
          <a:p/>
          <a:p>
            <a:r>
              <a:t>- Modelos pequeños (SLM): 1-10 mil millones de parámetros (Llama 3.2 1B/3B, Gemma, Phi, Qwen pequeños). Corren en</a:t>
            </a:r>
          </a:p>
          <a:p>
            <a:r>
              <a:t>  laptops, dispositivos móviles o servidores sin GPU grande. Suficientes para tareas acotadas y datos sensibles locales.</a:t>
            </a:r>
          </a:p>
          <a:p/>
          <a:p>
            <a:r>
              <a:t>- Multimodales: aceptan imágenes, audio o video. Útiles para leer facturas escaneadas, formularios o fotos de</a:t>
            </a:r>
          </a:p>
          <a:p>
            <a:r>
              <a:t>  inspección de calidad.</a:t>
            </a:r>
          </a:p>
          <a:p/>
          <a:p>
            <a:r>
              <a:t>- Modelos de razonamiento: generan una cadena de pasos intermedios ("pensamiento") antes de la respuesta. Mejoran en</a:t>
            </a:r>
          </a:p>
          <a:p>
            <a:r>
              <a:t>  matemáticas, lógica y planificación, pero consumen más tokens (más costo y latencia). Úselos cuando la tarea lo</a:t>
            </a:r>
          </a:p>
          <a:p>
            <a:r>
              <a:t>  justifique.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patrón más usado en soluciones empresariales y lo estudiaremos a fondo en capítulos siguientes. Aquí solo</a:t>
            </a:r>
          </a:p>
          <a:p>
            <a:r>
              <a:t>lo presentamos para mostrar cómo las familias se complementan.</a:t>
            </a:r>
          </a:p>
          <a:p/>
          <a:p>
            <a:r>
              <a:t>1) Los documentos de la empresa (manuales de TechCorp) se dividen en fragmentos y un ENCODER los convierte en</a:t>
            </a:r>
          </a:p>
          <a:p>
            <a:r>
              <a:t>   embeddings, que se guardan en una base vectorial (por ejemplo, PostgreSQL con pgvector).</a:t>
            </a:r>
          </a:p>
          <a:p>
            <a:r>
              <a:t>2) Cuando llega una pregunta, el mismo encoder la convierte en vector y se recuperan los fragmentos más cercanos.</a:t>
            </a:r>
          </a:p>
          <a:p>
            <a:r>
              <a:t>3) Un DECODER recibe la pregunta y los fragmentos, y redacta una respuesta citando las fuentes.</a:t>
            </a:r>
          </a:p>
          <a:p/>
          <a:p>
            <a:r>
              <a:t>Beneficios: respuestas basadas en información propia y actualizada, menos alucinaciones, sin reentrenar el modelo, y</a:t>
            </a:r>
          </a:p>
          <a:p>
            <a:r>
              <a:t>el costo de la parte "encoder" es mínimo.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Transición. Ya sabemos QUÉ tipo de modelo; ahora decidimos DÓNDE se ejecuta y bajo qué modelo de servicio.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Presente el espectro de izquierda (máxima conveniencia) a derecha (máximo control):</a:t>
            </a:r>
          </a:p>
          <a:p/>
          <a:p>
            <a:r>
              <a:t>1) API del fabricante: OpenAI, Anthropic, Gemini API. Se paga por token, cero infraestructura, acceso inmediato a los</a:t>
            </a:r>
          </a:p>
          <a:p>
            <a:r>
              <a:t>   modelos más capaces. Los datos viajan al proveedor (revisar términos de uso de datos y retención).</a:t>
            </a:r>
          </a:p>
          <a:p/>
          <a:p>
            <a:r>
              <a:t>2) Nube gestionada del hiperescalador: Azure AI Foundry (Azure OpenAI), AWS Bedrock, Google Gemini Enterprise Agent</a:t>
            </a:r>
          </a:p>
          <a:p>
            <a:r>
              <a:t>   Platform. Los mismos o similares modelos, pero dentro del contrato, la red privada, la gestión de identidades y las</a:t>
            </a:r>
          </a:p>
          <a:p>
            <a:r>
              <a:t>   regiones del proveedor de nube que la empresa ya usa. Suele ser la opción preferida por el sector financiero.</a:t>
            </a:r>
          </a:p>
          <a:p/>
          <a:p>
            <a:r>
              <a:t>3) Autohospedado en nube: la empresa despliega un modelo de pesos abiertos con servidores de inferencia como vLLM o</a:t>
            </a:r>
          </a:p>
          <a:p>
            <a:r>
              <a:t>   TGI en máquinas con GPU o en Kubernetes. Control total, pero la empresa opera todo.</a:t>
            </a:r>
          </a:p>
          <a:p/>
          <a:p>
            <a:r>
              <a:t>4) On-premise o borde: servidores propios (o incluso laptops y dispositivos) con Ollama, llama.cpp o vLLM. Máxima</a:t>
            </a:r>
          </a:p>
          <a:p>
            <a:r>
              <a:t>   soberanía de datos; modelos más pequeños; inversión en hardware.</a:t>
            </a:r>
          </a:p>
          <a:p/>
          <a:p>
            <a:r>
              <a:t>No hay una opción "mejor": depende de sensibilidad de datos, volumen, capacidades requeridas y del equipo disponible.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Modelos cerrados (propietarios): solo accesibles por API; el proveedor no entrega los pesos. Ventajas: suelen liderar</a:t>
            </a:r>
          </a:p>
          <a:p>
            <a:r>
              <a:t>en capacidades, el proveedor se encarga de todo. Desventajas: dependencia del proveedor, los datos salen del</a:t>
            </a:r>
          </a:p>
          <a:p>
            <a:r>
              <a:t>perímetro (mitigable con nube gestionada y contratos), cambios de versión fuera de su control.</a:t>
            </a:r>
          </a:p>
          <a:p/>
          <a:p>
            <a:r>
              <a:t>Modelos de pesos abiertos (open weights): el archivo del modelo se puede descargar y ejecutar donde quiera. Ejemplos:</a:t>
            </a:r>
          </a:p>
          <a:p>
            <a:r>
              <a:t>Llama (Meta), Mistral, Gemma (Google), Qwen (Alibaba), DeepSeek. Ventajas: control, privacidad, personalización con</a:t>
            </a:r>
          </a:p>
          <a:p>
            <a:r>
              <a:t>ajuste fino, costo marginal bajo a gran escala. Desventajas: usted opera la infraestructura, y los más capaces</a:t>
            </a:r>
          </a:p>
          <a:p>
            <a:r>
              <a:t>requieren GPU costosas.</a:t>
            </a:r>
          </a:p>
          <a:p/>
          <a:p>
            <a:r>
              <a:t>ADVERTENCIA IMPORTANTE: "pesos abiertos" no es lo mismo que "código abierto" ni que "libre para cualquier uso". Cada</a:t>
            </a:r>
          </a:p>
          <a:p>
            <a:r>
              <a:t>modelo tiene su licencia: algunas son permisivas (tipo Apache 2.0), otras imponen restricciones de uso comercial,</a:t>
            </a:r>
          </a:p>
          <a:p>
            <a:r>
              <a:t>de número de usuarios o de casos de uso. El área legal debe revisar la licencia antes de producción.</a:t>
            </a:r>
          </a:p>
          <a:p/>
          <a:p>
            <a:r>
              <a:t>Iniciativas regionales: existen esfuerzos por construir modelos entrenados con datos de la región (por ejemplo,</a:t>
            </a:r>
          </a:p>
          <a:p>
            <a:r>
              <a:t>Latam-GPT, impulsado desde Chile con socios de varios países); vale la pena seguirlos por su potencial en español y</a:t>
            </a:r>
          </a:p>
          <a:p>
            <a:r>
              <a:t>contexto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Recorra la tabla fila por fila, pidiendo a los participantes que indiquen qué columna "gana" para su organización.</a:t>
            </a:r>
          </a:p>
          <a:p/>
          <a:p>
            <a:r>
              <a:t>Puntos a enfatizar:</a:t>
            </a:r>
          </a:p>
          <a:p>
            <a:r>
              <a:t>- Tiempo de salida al mercado: la nube gestionada gana por mucho (días vs. meses).</a:t>
            </a:r>
          </a:p>
          <a:p>
            <a:r>
              <a:t>- Soberanía de datos: on-premise gana, aunque la nube gestionada con regiones locales, red privada y cifrado con</a:t>
            </a:r>
          </a:p>
          <a:p>
            <a:r>
              <a:t>  llaves propias cubre muchos requisitos regulatorios.</a:t>
            </a:r>
          </a:p>
          <a:p>
            <a:r>
              <a:t>- Costo: la nube es variable (pago por uso); on-premise es fijo (inversión + operación). La elección depende del</a:t>
            </a:r>
          </a:p>
          <a:p>
            <a:r>
              <a:t>  volumen: lo cuantificaremos con el punto de equilibrio.</a:t>
            </a:r>
          </a:p>
          <a:p>
            <a:r>
              <a:t>- Escalabilidad: la nube escala casi sin límite; on-premise está limitado por el hardware comprado.</a:t>
            </a:r>
          </a:p>
          <a:p>
            <a:r>
              <a:t>- Capacidades: los modelos más capaces suelen estar disponibles solo en la nube.</a:t>
            </a:r>
          </a:p>
          <a:p>
            <a:r>
              <a:t>- Operación: on-premise exige un equipo con habilidades de MLOps, GPU y seguridad.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Muchas empresas no eligen una sola opción: combinan varias con un componente central, el GATEWAY de IA (también</a:t>
            </a:r>
          </a:p>
          <a:p>
            <a:r>
              <a:t>llamado "LLM gateway" o "AI gateway"). Sus funciones:</a:t>
            </a:r>
          </a:p>
          <a:p/>
          <a:p>
            <a:r>
              <a:t>- Enrutamiento: decide a qué modelo enviar cada solicitud según la sensibilidad de los datos, la complejidad de la</a:t>
            </a:r>
          </a:p>
          <a:p>
            <a:r>
              <a:t>  tarea y el costo. Ejemplo TechCorp: preguntas con datos personales o secretos industriales → modelo on-premise;</a:t>
            </a:r>
          </a:p>
          <a:p>
            <a:r>
              <a:t>  preguntas generales → modelo económico en la nube; análisis complejos → modelo de frontera.</a:t>
            </a:r>
          </a:p>
          <a:p>
            <a:r>
              <a:t>- Seguridad: enmascarar datos personales (PII) antes de salir del perímetro, filtrar contenido, validar entradas.</a:t>
            </a:r>
          </a:p>
          <a:p>
            <a:r>
              <a:t>- Gobierno: cuotas por área, límites de gasto, registro y auditoría de todas las llamadas.</a:t>
            </a:r>
          </a:p>
          <a:p>
            <a:r>
              <a:t>- Resiliencia: si un proveedor falla, redirigir a otro (alta disponibilidad).</a:t>
            </a:r>
          </a:p>
          <a:p/>
          <a:p>
            <a:r>
              <a:t>Este patrón materializa el objetivo del curso: escalabilidad, seguridad y disponibilidad.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proveedores cambian precios, modelos y APIs con frecuencia. Si el código de negocio llama directamente al SDK de un</a:t>
            </a:r>
          </a:p>
          <a:p>
            <a:r>
              <a:t>proveedor, cada cambio obliga a reescribir. El patrón ADAPTADOR resuelve esto:</a:t>
            </a:r>
          </a:p>
          <a:p/>
          <a:p>
            <a:r>
              <a:t>1) Se define una interfaz propia (en nuestro repositorio: LLMProvider con métodos generate y stream).</a:t>
            </a:r>
          </a:p>
          <a:p>
            <a:r>
              <a:t>2) Cada proveedor tiene un adaptador que traduce esa interfaz a su API.</a:t>
            </a:r>
          </a:p>
          <a:p>
            <a:r>
              <a:t>3) La lógica de negocio solo conoce la interfaz. Cambiar de proveedor = cambiar configuración.</a:t>
            </a:r>
          </a:p>
          <a:p/>
          <a:p>
            <a:r>
              <a:t>Además, el formato "Chat Completions" (mensajes con roles system/user/assistant) se volvió un estándar de facto:</a:t>
            </a:r>
          </a:p>
          <a:p>
            <a:r>
              <a:t>Ollama, vLLM, Groq, Azure y el endpoint compatible de Gemini lo aceptan. Un solo adaptador "compatible con OpenAI"</a:t>
            </a:r>
          </a:p>
          <a:p>
            <a:r>
              <a:t>cubre muchos proveedores.</a:t>
            </a:r>
          </a:p>
          <a:p/>
          <a:p>
            <a:r>
              <a:t>Esto es exactamente lo que implementa el backend del LLM Lab (carpeta backend/app/providers) y lo que demuestra el</a:t>
            </a:r>
          </a:p>
          <a:p>
            <a:r>
              <a:t>laboratorio labs/sesion2/02: el mismo código contra Ollama local y contra la nube.</a:t>
            </a:r>
          </a:p>
          <a:p/>
          <a:p>
            <a:r>
              <a:t>Beneficios: menor riesgo de dependencia, pruebas con proveedores simulados, arquitecturas híbridas y comparación</a:t>
            </a:r>
          </a:p>
          <a:p>
            <a:r>
              <a:t>objetiva entre modelos.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Transición. Aplicamos las decisiones de tipo de modelo y despliegue a sectores concretos de la región.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Sector público. Casos típicos en entidades de la región:</a:t>
            </a:r>
          </a:p>
          <a:p>
            <a:r>
              <a:t>- PQRS (peticiones, quejas, reclamos y sugerencias): altos volúmenes de texto libre. Un encoder clasifica y enruta de</a:t>
            </a:r>
          </a:p>
          <a:p>
            <a:r>
              <a:t>  forma barata; un decoder puede proponer un borrador de respuesta para revisión humana.</a:t>
            </a:r>
          </a:p>
          <a:p>
            <a:r>
              <a:t>- Orientación en trámites: asistente conversacional con RAG sobre la normativa y los procedimientos vigentes.</a:t>
            </a:r>
          </a:p>
          <a:p>
            <a:r>
              <a:t>- Lenguaje claro: reescribir actos administrativos para que la ciudadanía los entienda.</a:t>
            </a:r>
          </a:p>
          <a:p/>
          <a:p>
            <a:r>
              <a:t>Consideraciones: transparencia (explicar por qué se enrutó una solicitud), trazabilidad para auditoría, accesibilidad</a:t>
            </a:r>
          </a:p>
          <a:p>
            <a:r>
              <a:t>(diversidad lingüística y de conectividad) y un presupuesto que obliga a optimizar el costo por solicitud.</a:t>
            </a:r>
          </a:p>
          <a:p>
            <a:r>
              <a:t>Relación con el laboratorio: labs/sesion2/01 resuelve exactamente la clasificación de solicitudes ciudadanas.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Sector financiero. Es uno de los más avanzados en adopción en la región.</a:t>
            </a:r>
          </a:p>
          <a:p>
            <a:r>
              <a:t>- Atención al cliente: asistentes sobre productos, tarifas y trámites, con escalamiento a humanos.</a:t>
            </a:r>
          </a:p>
          <a:p>
            <a:r>
              <a:t>- Análisis documental: extraer datos de cédulas, certificados o estados financieros (modelos multimodales).</a:t>
            </a:r>
          </a:p>
          <a:p>
            <a:r>
              <a:t>- Apoyo a cumplimiento: resumir alertas de monitoreo transaccional y expedientes para que el analista decida más</a:t>
            </a:r>
          </a:p>
          <a:p>
            <a:r>
              <a:t>  rápido; el LLM NO toma la decisión.</a:t>
            </a:r>
          </a:p>
          <a:p/>
          <a:p>
            <a:r>
              <a:t>Consideraciones: protección de datos personales, secreto bancario, requisitos de los supervisores financieros</a:t>
            </a:r>
          </a:p>
          <a:p>
            <a:r>
              <a:t>(auditoría, gestión de riesgo de modelos, explicabilidad) y humano en el ciclo para decisiones de crédito o fraude.</a:t>
            </a:r>
          </a:p>
          <a:p>
            <a:r>
              <a:t>Opción de despliegue frecuente: nube gestionada del hiperescalador con red privada y región definida.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Salud. Gran potencial y máxima sensibilidad.</a:t>
            </a:r>
          </a:p>
          <a:p>
            <a:r>
              <a:t>- Resumen de historias clínicas: ahorra tiempo al profesional, que siempre valida.</a:t>
            </a:r>
          </a:p>
          <a:p>
            <a:r>
              <a:t>- Apoyo a la codificación diagnóstica (CIE-10): el modelo sugiere, el codificador decide.</a:t>
            </a:r>
          </a:p>
          <a:p>
            <a:r>
              <a:t>- Gestión de citas, recordatorios y material educativo en lenguaje claro para pacientes.</a:t>
            </a:r>
          </a:p>
          <a:p/>
          <a:p>
            <a:r>
              <a:t>Consideraciones: los datos de salud son datos sensibles en todas las legislaciones de la región; exigen</a:t>
            </a:r>
          </a:p>
          <a:p>
            <a:r>
              <a:t>consentimiento, minimización, anonimización o seudonimización, y a menudo residencia de datos. La validación clínica</a:t>
            </a:r>
          </a:p>
          <a:p>
            <a:r>
              <a:t>es obligatoria: el LLM es apoyo, nunca diagnóstico autónomo. Evaluar sesgos en poblaciones subrepresentadas.</a:t>
            </a:r>
          </a:p>
          <a:p>
            <a:r>
              <a:t>Opción de despliegue frecuente: modelo en entorno privado (on-premise o nube privada con controles estrictos).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Marco de referencia (verifique siempre la norma vigente y su reglamentación en cada país; no es asesoría legal):</a:t>
            </a:r>
          </a:p>
          <a:p/>
          <a:p>
            <a:r>
              <a:t>- Colombia: Ley 1581 de 2012 de protección de datos personales (habeas data) y lineamientos de política pública de IA</a:t>
            </a:r>
          </a:p>
          <a:p>
            <a:r>
              <a:t>  (documentos CONPES).</a:t>
            </a:r>
          </a:p>
          <a:p>
            <a:r>
              <a:t>- Brasil: Lei Geral de Proteção de Dados (LGPD, Ley 13.709 de 2018), con una autoridad de protección de datos activa.</a:t>
            </a:r>
          </a:p>
          <a:p>
            <a:r>
              <a:t>- Chile: Ley 21.719 de 2024, nueva ley de protección de datos personales con autoridad propia.</a:t>
            </a:r>
          </a:p>
          <a:p>
            <a:r>
              <a:t>- México: Ley Federal de Protección de Datos Personales en Posesión de los Particulares.</a:t>
            </a:r>
          </a:p>
          <a:p>
            <a:r>
              <a:t>- Perú: Ley 29733. Argentina: Ley 25.326.</a:t>
            </a:r>
          </a:p>
          <a:p>
            <a:r>
              <a:t>- Referencia internacional frecuente: el Reglamento de IA de la Unión Europea (AI Act), que clasifica los sistemas por</a:t>
            </a:r>
          </a:p>
          <a:p>
            <a:r>
              <a:t>  nivel de riesgo; varias propuestas legislativas de la región se inspiran en él.</a:t>
            </a:r>
          </a:p>
          <a:p/>
          <a:p>
            <a:r>
              <a:t>Implicaciones de arquitectura:</a:t>
            </a:r>
          </a:p>
          <a:p>
            <a:r>
              <a:t>1) Residencia de datos: los hiperescaladores tienen regiones en la región (por ejemplo, São Paulo, Santiago o</a:t>
            </a:r>
          </a:p>
          <a:p>
            <a:r>
              <a:t>   Querétaro, según el proveedor), pero no todos los modelos están disponibles en todas las regiones. Verificar antes</a:t>
            </a:r>
          </a:p>
          <a:p>
            <a:r>
              <a:t>   de diseñar.</a:t>
            </a:r>
          </a:p>
          <a:p>
            <a:r>
              <a:t>2) Transferencias internacionales: enviar datos personales a una API en otro país puede requerir bases legales o</a:t>
            </a:r>
          </a:p>
          <a:p>
            <a:r>
              <a:t>   cláusulas específicas.</a:t>
            </a:r>
          </a:p>
          <a:p>
            <a:r>
              <a:t>3) Minimización y anonimización antes de enviar datos al modelo (patrón gateway).</a:t>
            </a:r>
          </a:p>
          <a:p>
            <a:r>
              <a:t>4) Registro y trazabilidad para responder a auditorías y solicitudes de los titulares.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Transición al último tema: convertir todo lo anterior en una decisión cuantificada.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APIs cobran por token, con precios expresados en dólares por millón de tokens, y con precios DISTINTOS para</a:t>
            </a:r>
          </a:p>
          <a:p>
            <a:r>
              <a:t>entrada y salida.</a:t>
            </a:r>
          </a:p>
          <a:p/>
          <a:p>
            <a:r>
              <a:t>- Tokens de entrada: instrucciones de sistema, historial de conversación, documentos recuperados y la pregunta.</a:t>
            </a:r>
          </a:p>
          <a:p>
            <a:r>
              <a:t>- Tokens de salida: la respuesta generada. Cuestan típicamente entre 4 y 8 veces más que los de entrada, porque la</a:t>
            </a:r>
          </a:p>
          <a:p>
            <a:r>
              <a:t>  generación es secuencial (una pasada por token), como vimos en la Sesión 1.</a:t>
            </a:r>
          </a:p>
          <a:p>
            <a:r>
              <a:t>- Caché de prompts: muchos proveedores cobran mucho menos la parte de la entrada que se repite (por ejemplo, las</a:t>
            </a:r>
          </a:p>
          <a:p>
            <a:r>
              <a:t>  instrucciones de sistema o un documento fijo).</a:t>
            </a:r>
          </a:p>
          <a:p>
            <a:r>
              <a:t>- Procesamiento por lotes (batch): algunos proveedores ofrecen descuentos para solicitudes no urgentes procesadas de</a:t>
            </a:r>
          </a:p>
          <a:p>
            <a:r>
              <a:t>  forma asíncrona.</a:t>
            </a:r>
          </a:p>
          <a:p/>
          <a:p>
            <a:r>
              <a:t>En autohospedado no hay costo por token: hay un costo FIJO (GPU, energía, operación) y el costo por token depende de</a:t>
            </a:r>
          </a:p>
          <a:p>
            <a:r>
              <a:t>qué tanto se aprovecha esa capacidad.</a:t>
            </a:r>
          </a:p>
          <a:p/>
          <a:p>
            <a:r>
              <a:t>Los precios cambian con frecuencia: el catálogo del repositorio (pricing.yaml) es ilustrativo; enseñamos el método.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Haga el cálculo paso a paso en el tablero con precios ilustrativos de un modelo tipo "flash" (USD 0,30 por millón de</a:t>
            </a:r>
          </a:p>
          <a:p>
            <a:r>
              <a:t>tokens de entrada y USD 2,50 por millón de salida):</a:t>
            </a:r>
          </a:p>
          <a:p/>
          <a:p>
            <a:r>
              <a:t>- Solicitudes al mes: 20.000 × 30 = 600.000.</a:t>
            </a:r>
          </a:p>
          <a:p>
            <a:r>
              <a:t>- Tokens de entrada: 600.000 × 1.200 = 720 millones → 720 × 0,30 = USD 216.</a:t>
            </a:r>
          </a:p>
          <a:p>
            <a:r>
              <a:t>- Tokens de salida: 600.000 × 250 = 150 millones → 150 × 2,50 = USD 375.</a:t>
            </a:r>
          </a:p>
          <a:p>
            <a:r>
              <a:t>- Total: USD 591 al mes (≈ USD 0,001 por conversación).</a:t>
            </a:r>
          </a:p>
          <a:p/>
          <a:p>
            <a:r>
              <a:t>Observación clave: la salida representa solo el 17% de los tokens, pero el 63% del costo. Por eso limitar la</a:t>
            </a:r>
          </a:p>
          <a:p>
            <a:r>
              <a:t>longitud de las respuestas es una palanca de ahorro muy efectiva.</a:t>
            </a:r>
          </a:p>
          <a:p/>
          <a:p>
            <a:r>
              <a:t>Pregunta: ¿qué pasa si el mismo caso usa un modelo de gama alta con precios de USD 3 y USD 15? (Respuesta: ~USD 4.410,</a:t>
            </a:r>
          </a:p>
          <a:p>
            <a:r>
              <a:t>unas 7,5 veces más.) ¿La diferencia de calidad lo justifica para responder preguntas frecuentes? Compruébelo en la</a:t>
            </a:r>
          </a:p>
          <a:p>
            <a:r>
              <a:t>pestaña "5 · Costos" del LLM Lab.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Gráfico calculado con los supuestos del catálogo ilustrativo (1.200 tokens de entrada y 250 de salida por solicitud):</a:t>
            </a:r>
          </a:p>
          <a:p/>
          <a:p>
            <a:r>
              <a:t>- Modelo tipo "flash" por API: USD 985 por cada millón de solicitudes.</a:t>
            </a:r>
          </a:p>
          <a:p>
            <a:r>
              <a:t>- Modelo económico por API: USD 330 por cada millón de solicitudes.</a:t>
            </a:r>
          </a:p>
          <a:p>
            <a:r>
              <a:t>- GPU dedicada en la nube con un modelo abierto de 70B: ~USD 2.900 al mes, fijo (una réplica).</a:t>
            </a:r>
          </a:p>
          <a:p>
            <a:r>
              <a:t>- Con alta disponibilidad (dos réplicas): ~USD 5.800 al mes.</a:t>
            </a:r>
          </a:p>
          <a:p/>
          <a:p>
            <a:r>
              <a:t>Lectura: frente al modelo tipo flash, la GPU dedicada se vuelve más barata a partir de ~2,9 millones de solicitudes al</a:t>
            </a:r>
          </a:p>
          <a:p>
            <a:r>
              <a:t>mes (unas 98 mil diarias); con alta disponibilidad, a partir de ~5,9 millones. Frente al modelo económico, la GPU no</a:t>
            </a:r>
          </a:p>
          <a:p>
            <a:r>
              <a:t>alcanza el equilibrio en este rango.</a:t>
            </a:r>
          </a:p>
          <a:p/>
          <a:p>
            <a:r>
              <a:t>Advertencias: este cálculo NO incluye personal de operación, la capacidad máxima de la GPU (tokens por segundo) ni la</a:t>
            </a:r>
          </a:p>
          <a:p>
            <a:r>
              <a:t>diferencia de calidad entre modelos. Por eso la decisión nunca es solo de precio. Laboratorio: labs/sesion2/03.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analogía del iceberg: el precio por token (o el precio de la GPU) es solo la parte visible. Debajo de la línea de</a:t>
            </a:r>
          </a:p>
          <a:p>
            <a:r>
              <a:t>flotación están los costos que suelen olvidarse y que pueden superar al costo del modelo:</a:t>
            </a:r>
          </a:p>
          <a:p/>
          <a:p>
            <a:r>
              <a:t>- Integración y desarrollo: conectar con sistemas existentes, preparar datos, construir la interfaz.</a:t>
            </a:r>
          </a:p>
          <a:p>
            <a:r>
              <a:t>- Evaluación continua: conjuntos de prueba, medición de calidad, pruebas de regresión cuando cambia el modelo.</a:t>
            </a:r>
          </a:p>
          <a:p>
            <a:r>
              <a:t>- Observabilidad: registro de llamadas, trazas, tableros de costo y calidad.</a:t>
            </a:r>
          </a:p>
          <a:p>
            <a:r>
              <a:t>- Seguridad y cumplimiento: guardarraíles, anonimización, auditorías, revisiones legales.</a:t>
            </a:r>
          </a:p>
          <a:p>
            <a:r>
              <a:t>- Alta disponibilidad: réplicas, proveedores alternativos, pruebas de conmutación.</a:t>
            </a:r>
          </a:p>
          <a:p>
            <a:r>
              <a:t>- Personas: MLOps, soporte, gestión del cambio y capacitación de usuarios.</a:t>
            </a:r>
          </a:p>
          <a:p>
            <a:r>
              <a:t>- Costo de oportunidad: meses de demora en salir al mercado.</a:t>
            </a:r>
          </a:p>
          <a:p/>
          <a:p>
            <a:r>
              <a:t>Pregunta: en su organización, ¿cuál de estos costos sería el más alto?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Seis palancas, de mayor a menor impacto habitual:</a:t>
            </a:r>
          </a:p>
          <a:p/>
          <a:p>
            <a:r>
              <a:t>1) Modelo adecuado, no el más grande: usar el modelo más pequeño que cumpla la calidad requerida; enrutar solo los</a:t>
            </a:r>
          </a:p>
          <a:p>
            <a:r>
              <a:t>   casos difíciles al modelo grande (enrutamiento o "cascada").</a:t>
            </a:r>
          </a:p>
          <a:p>
            <a:r>
              <a:t>2) Controlar la salida: límite de tokens, formatos concisos, pedir JSON en lugar de prosa cuando la salida la consume</a:t>
            </a:r>
          </a:p>
          <a:p>
            <a:r>
              <a:t>   un sistema.</a:t>
            </a:r>
          </a:p>
          <a:p>
            <a:r>
              <a:t>3) Caché: de prompts (proveedor) y de respuestas (propia) para preguntas frecuentes.</a:t>
            </a:r>
          </a:p>
          <a:p>
            <a:r>
              <a:t>4) Enviar menos contexto: RAG en lugar de pegar documentos completos; resumir historiales largos.</a:t>
            </a:r>
          </a:p>
          <a:p>
            <a:r>
              <a:t>5) Lotes asíncronos: para procesos no interactivos (clasificar el histórico de PQRS), usar APIs batch con descuento.</a:t>
            </a:r>
          </a:p>
          <a:p>
            <a:r>
              <a:t>6) Medir por caso de uso: sin observabilidad de costo por funcionalidad y por usuario no hay optimización posible.</a:t>
            </a:r>
          </a:p>
          <a:p/>
          <a:p>
            <a:r>
              <a:t>Estas palancas se profundizan en el capítulo de optimización de costos y rendimiento.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selección es MULTICRITERIO. Recorra los nueve factores:</a:t>
            </a:r>
          </a:p>
          <a:p/>
          <a:p>
            <a:r>
              <a:t>1) Calidad en SU tarea: los benchmarks públicos orientan, pero hay que evaluar con datos y casos propios (un conjunto</a:t>
            </a:r>
          </a:p>
          <a:p>
            <a:r>
              <a:t>   de 50 a 200 ejemplos representativos ya dice mucho).</a:t>
            </a:r>
          </a:p>
          <a:p>
            <a:r>
              <a:t>2) Costo por solicitud y a escala (lo que acabamos de calcular).</a:t>
            </a:r>
          </a:p>
          <a:p>
            <a:r>
              <a:t>3) Latencia: tiempo al primer token y tiempo total, según la experiencia requerida.</a:t>
            </a:r>
          </a:p>
          <a:p>
            <a:r>
              <a:t>4) Privacidad y residencia de datos.</a:t>
            </a:r>
          </a:p>
          <a:p>
            <a:r>
              <a:t>5) Cumplimiento regulatorio y capacidad de auditoría.</a:t>
            </a:r>
          </a:p>
          <a:p>
            <a:r>
              <a:t>6) Ventana de contexto y capacidades: multimodalidad, herramientas (function calling), salidas estructuradas.</a:t>
            </a:r>
          </a:p>
          <a:p>
            <a:r>
              <a:t>7) Calidad en español y en variantes regionales (terminología local, modismos).</a:t>
            </a:r>
          </a:p>
          <a:p>
            <a:r>
              <a:t>8) Operación, SLA y soporte en la región.</a:t>
            </a:r>
          </a:p>
          <a:p>
            <a:r>
              <a:t>9) Licencia y riesgo de dependencia del proveedor.</a:t>
            </a:r>
          </a:p>
          <a:p/>
          <a:p>
            <a:r>
              <a:t>Los pesos de cada factor dependen del sector y del caso: eso nos lleva a la matriz de decisión.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Método de suma ponderada: puntaje = suma de (peso del criterio × calificación de la opción). Pasos:</a:t>
            </a:r>
          </a:p>
          <a:p>
            <a:r>
              <a:t>1) Definir criterios relevantes para el caso.</a:t>
            </a:r>
          </a:p>
          <a:p>
            <a:r>
              <a:t>2) Asignar pesos que sumen 100% (con el negocio, legal y seguridad, no solo TI).</a:t>
            </a:r>
          </a:p>
          <a:p>
            <a:r>
              <a:t>3) Calificar cada opción de 1 a 5 con evidencia (pruebas propias, documentación, cotizaciones).</a:t>
            </a:r>
          </a:p>
          <a:p>
            <a:r>
              <a:t>4) Calcular y, muy importante, hacer ANÁLISIS DE SENSIBILIDAD: ¿cambia el ganador si un peso varía ±5%?</a:t>
            </a:r>
          </a:p>
          <a:p/>
          <a:p>
            <a:r>
              <a:t>En este ejemplo (calificaciones ilustrativas para discusión, no una evaluación de proveedores), con pesos de un banco</a:t>
            </a:r>
          </a:p>
          <a:p>
            <a:r>
              <a:t>—cumplimiento 25%, privacidad 20%, calidad 20%— gana "Abierto en nube privada" con 3.85. Con los pesos de una startup de</a:t>
            </a:r>
          </a:p>
          <a:p>
            <a:r>
              <a:t>comercio, la misma matriz favorece a la API económica. Lo comprobará en labs/sesion2/04.</a:t>
            </a:r>
          </a:p>
          <a:p/>
          <a:p>
            <a:r>
              <a:t>Mensaje: la mejor tecnología depende del contexto. La matriz no reemplaza el juicio, pero lo hace explícito y</a:t>
            </a:r>
          </a:p>
          <a:p>
            <a:r>
              <a:t>discutible.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Ejercicios de la sesión (detalle en el repositorio, carpeta labs/sesion2 y LLM Lab):</a:t>
            </a:r>
          </a:p>
          <a:p>
            <a:r>
              <a:t>- Lab 01: la misma tarea (enrutar solicitudes ciudadanas) resuelta con un encoder y con un decoder; comparar exactitud,</a:t>
            </a:r>
          </a:p>
          <a:p>
            <a:r>
              <a:t>  latencia y formato de salida.</a:t>
            </a:r>
          </a:p>
          <a:p>
            <a:r>
              <a:t>- Lab 02: el mismo código contra Ollama local y proveedores de nube, cambiando solo base_url, clave y modelo.</a:t>
            </a:r>
          </a:p>
          <a:p>
            <a:r>
              <a:t>- Lab 03: punto de equilibrio entre API y GPU dedicada.</a:t>
            </a:r>
          </a:p>
          <a:p>
            <a:r>
              <a:t>- Lab 04: matriz de decisión ponderada para cuatro sectores.</a:t>
            </a:r>
          </a:p>
          <a:p>
            <a:r>
              <a:t>- LLM Lab: pestañas 3 (embeddings), 4 (comparador) y 5 (costos).</a:t>
            </a:r>
          </a:p>
          <a:p/>
          <a:p>
            <a:r>
              <a:t>Y el laboratorio de Google Cloud (siguiente diapositiva), que puede realizarse en clase o como trabajo autónomo.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Laboratorio en Gemini Enterprise Agent Platform (en abril de 2026 Google renombró Vertex AI con este nombre; en la</a:t>
            </a:r>
          </a:p>
          <a:p>
            <a:r>
              <a:t>consola aparece como "Agent Platform"). Las tres partes implementan el MISMO agente —la mesa de ayuda de TI de</a:t>
            </a:r>
          </a:p>
          <a:p>
            <a:r>
              <a:t>TechCorp— para comparar enfoques, no casos:</a:t>
            </a:r>
          </a:p>
          <a:p/>
          <a:p>
            <a:r>
              <a:t>1) Consola (Agent Studio): sin código. Se definen instrucciones, modelo y herramientas; se prueba en Preview y se</a:t>
            </a:r>
          </a:p>
          <a:p>
            <a:r>
              <a:t>   despliega en Agent Runtime.</a:t>
            </a:r>
          </a:p>
          <a:p>
            <a:r>
              <a:t>2) Google ADK: framework de código abierto. Un archivo agent.py con instrucciones y tres herramientas (funciones</a:t>
            </a:r>
          </a:p>
          <a:p>
            <a:r>
              <a:t>   Python). Se prueba con "adk web" y se publica con "adk deploy agent_engine" en Agent Runtime, que gestiona sesiones.</a:t>
            </a:r>
          </a:p>
          <a:p>
            <a:r>
              <a:t>3) Sin ADK: FastAPI + SDK google-genai con el bucle de herramientas escrito a mano; se empaqueta con Docker y se</a:t>
            </a:r>
          </a:p>
          <a:p>
            <a:r>
              <a:t>   publica en Cloud Run con una cuenta de servicio de mínimo privilegio.</a:t>
            </a:r>
          </a:p>
          <a:p/>
          <a:p>
            <a:r>
              <a:t>Pregunta de cierre del laboratorio: ¿qué ganó y qué perdió en cada enfoque? (control, portabilidad, velocidad,</a:t>
            </a:r>
          </a:p>
          <a:p>
            <a:r>
              <a:t>operación). Es la decisión "construir vs. adoptar plataforma".</a:t>
            </a:r>
          </a:p>
          <a:p/>
          <a:p>
            <a:r>
              <a:t>Recordatorio: eliminar los recursos al terminar para no generar costos.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Entregable: un memo de recomendación para un caso real de su organización (o para TechCorp si no puede usar datos</a:t>
            </a:r>
          </a:p>
          <a:p>
            <a:r>
              <a:t>propios). Debe incluir:</a:t>
            </a:r>
          </a:p>
          <a:p>
            <a:r>
              <a:t>1) Descripción del caso y de los datos involucrados.</a:t>
            </a:r>
          </a:p>
          <a:p>
            <a:r>
              <a:t>2) Familia de modelo recomendada y justificación.</a:t>
            </a:r>
          </a:p>
          <a:p>
            <a:r>
              <a:t>3) Modelo de despliegue (API, nube gestionada, autohospedado, on-premise o híbrido) y justificación regulatoria.</a:t>
            </a:r>
          </a:p>
          <a:p>
            <a:r>
              <a:t>4) Estimación de costo mensual con supuestos explícitos (use la calculadora del LLM Lab o el lab 03).</a:t>
            </a:r>
          </a:p>
          <a:p>
            <a:r>
              <a:t>5) Matriz de decisión con sus pesos y un análisis de sensibilidad.</a:t>
            </a:r>
          </a:p>
          <a:p>
            <a:r>
              <a:t>6) Principales riesgos y mitigaciones.</a:t>
            </a:r>
          </a:p>
          <a:p/>
          <a:p>
            <a:r>
              <a:t>Rúbrica de cuatro criterios con igual peso. Además, quiz de 10 preguntas con retroalimentación.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Síntesis del capítulo en cuatro ideas:</a:t>
            </a:r>
          </a:p>
          <a:p>
            <a:r>
              <a:t>1) Un LLM predice tokens: diseñe para sus limitaciones (Sesión 1).</a:t>
            </a:r>
          </a:p>
          <a:p>
            <a:r>
              <a:t>2) Hay familias distintas: encoder para comprender y buscar, decoder para generar, encoder-decoder para transformar.</a:t>
            </a:r>
          </a:p>
          <a:p>
            <a:r>
              <a:t>3) El despliegue es un espectro entre conveniencia y control; las arquitecturas híbridas con gateway combinan ambos.</a:t>
            </a:r>
          </a:p>
          <a:p>
            <a:r>
              <a:t>4) La selección es multicriterio y cuantificada: costo por tokens, punto de equilibrio, TCO y matriz ponderada.</a:t>
            </a:r>
          </a:p>
          <a:p/>
          <a:p>
            <a:r>
              <a:t>Próximo capítulo: guía paso a paso para consumir un endpoint de forma robusta (autenticación, reintentos, streaming,</a:t>
            </a:r>
          </a:p>
          <a:p>
            <a:r>
              <a:t>salidas estructuradas) y primeros pasos de optimización de costos y rendimiento.</a:t>
            </a:r>
          </a:p>
          <a:p/>
          <a:p>
            <a:r>
              <a:t>Recuerde: eliminar los recursos de Google Cloud creados en el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Referencias académicas fundamentales y documentación técnica. Los precios y nombres de productos cambian: consulte</a:t>
            </a:r>
          </a:p>
          <a:p>
            <a:r>
              <a:t>siempre la documentación oficial vigente de cada proveedor.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Abra el espacio de preguntas. Recuerde el entregable de cada sesión, el quiz y la limpieza de recursos en Google Cloud.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chart" Target="../charts/char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8641080" y="1051560"/>
            <a:ext cx="1737360" cy="274320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8641080" y="1325880"/>
            <a:ext cx="2743200" cy="914399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378440" y="1051560"/>
            <a:ext cx="1005840" cy="1188719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9646920" y="1051560"/>
            <a:ext cx="731520" cy="1463040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9646920" y="2240279"/>
            <a:ext cx="1737360" cy="274321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75320" y="2240279"/>
            <a:ext cx="3108960" cy="1005841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275320" y="2514600"/>
            <a:ext cx="1371600" cy="731520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46920" y="2514600"/>
            <a:ext cx="1097280" cy="1005840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275320" y="3246120"/>
            <a:ext cx="2468880" cy="274320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275320" y="3246120"/>
            <a:ext cx="1005840" cy="1097280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9281160" y="3520440"/>
            <a:ext cx="1463040" cy="822960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744200" y="3520440"/>
            <a:ext cx="365760" cy="1188720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281160" y="4343400"/>
            <a:ext cx="1828800" cy="365760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503920" y="118872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10241280" y="91440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11247120" y="2103120"/>
            <a:ext cx="274320" cy="27432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9509760" y="2377440"/>
            <a:ext cx="274320" cy="27432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138160" y="310896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0607040" y="3383280"/>
            <a:ext cx="274320" cy="2743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9144000" y="4206240"/>
            <a:ext cx="274320" cy="27432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10972800" y="4572000"/>
            <a:ext cx="274320" cy="27432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1188720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50">
                <a:solidFill>
                  <a:srgbClr val="00D4FF"/>
                </a:solidFill>
                <a:latin typeface="Arial"/>
              </a:rPr>
              <a:t>BSG INSTITUTE · CAPÍTULO 1: CONCEPTOS FUNDAMENTALES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1737360"/>
            <a:ext cx="7315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E6EEF5"/>
                </a:solidFill>
                <a:latin typeface="Calibri"/>
              </a:rPr>
              <a:t>Fundamentos de</a:t>
            </a:r>
          </a:p>
          <a:p>
            <a:pPr algn="l">
              <a:lnSpc>
                <a:spcPct val="95000"/>
              </a:lnSpc>
            </a:pPr>
            <a:r>
              <a:rPr sz="5400" b="1" i="0">
                <a:solidFill>
                  <a:srgbClr val="E6EEF5"/>
                </a:solidFill>
                <a:latin typeface="Calibri"/>
              </a:rPr>
              <a:t>Arquitectura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8862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5A623"/>
                </a:solidFill>
                <a:latin typeface="Arial"/>
              </a:rPr>
              <a:t>Sesión 1 · Introducción a las arquitecturas LLM</a:t>
            </a:r>
          </a:p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5A623"/>
                </a:solidFill>
                <a:latin typeface="Arial"/>
              </a:rPr>
              <a:t>Sesión 2 · Tipos de modelos y servicios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Diseño e implementación de soluciones con LLM para el mercado LATAM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RUTA DEL CAPÍTULO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Dos sesiones, una idea: entender antes de construir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22959" y="18288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0F1923"/>
                </a:solidFill>
                <a:latin typeface="Arial"/>
              </a:rPr>
              <a:t>SESIÓN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3172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6EEF5"/>
                </a:solidFill>
                <a:latin typeface="Calibri"/>
              </a:rPr>
              <a:t>Introducción a las arquitecturas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Origen y evolución: de ELIZA al Transformer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Anatomía: tokens, embeddings, atención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Entrenamiento e inferencia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Limitaciones y riesgos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Relevancia e impacto en la industria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9496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492240" y="182880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0F1923"/>
                </a:solidFill>
                <a:latin typeface="Arial"/>
              </a:rPr>
              <a:t>SESIÓN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E6EEF5"/>
                </a:solidFill>
                <a:latin typeface="Calibri"/>
              </a:rPr>
              <a:t>Tipos de modelos y servicios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24612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F5A623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Decoder-only, encoder-only, encoder-decoder</a:t>
            </a:r>
          </a:p>
          <a:p>
            <a:pPr marL="256032" indent="-256032">
              <a:spcAft>
                <a:spcPts val="800"/>
              </a:spcAft>
              <a:buClr>
                <a:srgbClr val="F5A623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Nube, on-premise e híbrido</a:t>
            </a:r>
          </a:p>
          <a:p>
            <a:pPr marL="256032" indent="-256032">
              <a:spcAft>
                <a:spcPts val="800"/>
              </a:spcAft>
              <a:buClr>
                <a:srgbClr val="F5A623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Pesos abiertos vs. cerrados</a:t>
            </a:r>
          </a:p>
          <a:p>
            <a:pPr marL="256032" indent="-256032">
              <a:spcAft>
                <a:spcPts val="800"/>
              </a:spcAft>
              <a:buClr>
                <a:srgbClr val="F5A623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Casos de uso LATAM</a:t>
            </a:r>
          </a:p>
          <a:p>
            <a:pPr marL="256032" indent="-256032">
              <a:spcAft>
                <a:spcPts val="800"/>
              </a:spcAft>
              <a:buClr>
                <a:srgbClr val="F5A623"/>
              </a:buClr>
              <a:buFont typeface="Arial"/>
              <a:buChar char="•"/>
            </a:pPr>
            <a:r>
              <a:rPr sz="1600" b="0" i="0">
                <a:solidFill>
                  <a:srgbClr val="E6EEF5"/>
                </a:solidFill>
                <a:latin typeface="Arial"/>
              </a:rPr>
              <a:t>Costos y factores de selección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Al terminar esta sesión usted podrá…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Recordar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002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los hitos que llevaron de los modelos estadísticos a los LLM actuales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77240" y="26974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Comprender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5146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cómo un LLM genera texto prediciendo el siguiente token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77240" y="36118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Comprender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290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los bloques de un Transformer: tokens, embeddings, atención y salida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77240" y="45262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Aplicar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3434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el consumo de un LLM local vía API e interpretar tokens y latencia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77240" y="54406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Analizar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2578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cómo tokens, contexto y temperatura afectan costo, calidad y riesgo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CASO DE ESTUDIO DEL CURSO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TechCorp Latinoamérica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1206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E6EEF5"/>
                </a:solidFill>
                <a:latin typeface="Arial"/>
              </a:rPr>
              <a:t>Empresa manufacturera con sedes en Bogotá, Lima y Ciudad de México. Quiere incorporar LLM en su operación sin comprometer la seguridad de sus datos ni su presupuesto.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544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263640" y="178308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55648"/>
            <a:ext cx="16459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Mesa de ayuda de 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377440"/>
            <a:ext cx="22402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6EEF5"/>
                </a:solidFill>
                <a:latin typeface="Arial"/>
              </a:rPr>
              <a:t>Responder 3.000 consultas/mes de colaboradores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55448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098280" y="178308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1755648"/>
            <a:ext cx="16459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Manuales técnicos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2377440"/>
            <a:ext cx="22402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6EEF5"/>
                </a:solidFill>
                <a:latin typeface="Arial"/>
              </a:rPr>
              <a:t>Consultar 20.000 páginas en lenguaje natural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79476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6263640" y="402336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3995928"/>
            <a:ext cx="16459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Calibri"/>
              </a:rPr>
              <a:t>Calidad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617720"/>
            <a:ext cx="22402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6EEF5"/>
                </a:solidFill>
                <a:latin typeface="Arial"/>
              </a:rPr>
              <a:t>Clasificar reportes de no conformidad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3794760"/>
            <a:ext cx="2651760" cy="20116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098280" y="4023360"/>
            <a:ext cx="457200" cy="45720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995928"/>
            <a:ext cx="16459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B7BFF"/>
                </a:solidFill>
                <a:latin typeface="Calibri"/>
              </a:rPr>
              <a:t>Gobierno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4617720"/>
            <a:ext cx="22402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0">
                <a:solidFill>
                  <a:srgbClr val="E6EEF5"/>
                </a:solidFill>
                <a:latin typeface="Arial"/>
              </a:rPr>
              <a:t>Cumplir protección de datos en 3 países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5120640" cy="22860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393192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F5A623"/>
                </a:solidFill>
                <a:latin typeface="Arial"/>
              </a:rPr>
              <a:t>PREGUNTA QUE GUIARÁ EL CURSO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389120"/>
            <a:ext cx="46634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1">
                <a:solidFill>
                  <a:srgbClr val="E6EEF5"/>
                </a:solidFill>
                <a:latin typeface="Arial"/>
              </a:rPr>
              <a:t>¿Qué modelo, desplegado dónde y a qué costo, resuelve cada necesidad con la calidad y el riesgo aceptables?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00D4FF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6EEF5"/>
                </a:solidFill>
                <a:latin typeface="Calibri"/>
              </a:rPr>
              <a:t>Introducción a las arquitecturas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EA3B5"/>
                </a:solidFill>
                <a:latin typeface="Arial"/>
              </a:rPr>
              <a:t>Origen y evolución · Cómo funciona un LLM · Relevancia e impacto en la industria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ACTIVEMOS CONOCIMIENTOS PREVIOS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¿Qué ocurre cuando escribe en un chatbot?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852160" cy="109728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5394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0" i="1">
                <a:solidFill>
                  <a:srgbClr val="F5A623"/>
                </a:solidFill>
                <a:latin typeface="Arial"/>
              </a:rPr>
              <a:t>“Explícame qué es un crédito de libranza.”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90672"/>
            <a:ext cx="411480" cy="41148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¿Busca en internet?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822191"/>
            <a:ext cx="411480" cy="41148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749039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¿Consulta una base de datos de respuestas?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553712"/>
            <a:ext cx="411480" cy="41148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8056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¿“Entiende” como una persona?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285232"/>
            <a:ext cx="411480" cy="41148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212080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¿Copia textos que memorizó?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1645920"/>
            <a:ext cx="4754880" cy="4389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32320" y="1874519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00D4FF"/>
                </a:solidFill>
                <a:latin typeface="Arial"/>
              </a:rPr>
              <a:t>LA RESPUESTA (AL FINAL DE LA SESIÓN)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377440"/>
            <a:ext cx="429768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6EEF5"/>
                </a:solidFill>
                <a:latin typeface="Arial"/>
              </a:rPr>
              <a:t>Calcula, token a token, la continuación más probable del texto, usando patrones estadísticos aprendidos de billones de palabras.</a:t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6EEF5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E6EEF5"/>
                </a:solidFill>
                <a:latin typeface="Arial"/>
              </a:rPr>
              <a:t>No consulta, no busca y no “sabe”: genera. Por eso puede ser brillante… o equivocarse con total seguridad.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1 · ORIGEN Y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¿Qué es un modelo de lenguaje?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486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E6EEF5"/>
                </a:solidFill>
                <a:latin typeface="Arial"/>
              </a:rPr>
              <a:t>Un modelo de lenguaje estima la probabilidad de la siguiente palabra (token) dado el contexto anterior.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5486400" cy="731520"/>
          </a:xfrm>
          <a:prstGeom prst="roundRect">
            <a:avLst>
              <a:gd name="adj" fmla="val 4000"/>
            </a:avLst>
          </a:prstGeom>
          <a:solidFill>
            <a:srgbClr val="0A121A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/>
            <a:r>
              <a:rPr sz="2000" b="0" i="0">
                <a:solidFill>
                  <a:srgbClr val="00E676"/>
                </a:solidFill>
                <a:latin typeface="Courier New"/>
              </a:rPr>
              <a:t>P( siguiente token | contexto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8EA3B5"/>
                </a:solidFill>
                <a:latin typeface="Arial"/>
              </a:rPr>
              <a:t>Un LLM (Large Language Model) es lo mismo, pero: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06240"/>
            <a:ext cx="5486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Grande en parámetros: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miles de millones de pesos aprendidos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Grande en datos: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billones de tokens de entrenamiento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Basado en Transformer: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procesa contexto largo con atención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1">
                <a:solidFill>
                  <a:srgbClr val="F5A623"/>
                </a:solidFill>
                <a:latin typeface="Arial"/>
              </a:rPr>
              <a:t>“El cliente solicita un ___”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00800" y="2011680"/>
          <a:ext cx="530352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1 · ORIGEN Y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Origen: de las reglas a las redes neuronales (1950–2014)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246120"/>
            <a:ext cx="10698480" cy="0"/>
          </a:xfrm>
          <a:prstGeom prst="line">
            <a:avLst/>
          </a:prstGeom>
          <a:ln w="381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98448" y="3063239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  <a:latin typeface="Calibri"/>
              </a:rPr>
              <a:t>1950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Test de Turing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¿Puede una máquina conversar?</a:t>
            </a:r>
          </a:p>
        </p:txBody>
      </p:sp>
      <p:sp>
        <p:nvSpPr>
          <p:cNvPr id="12" name="Oval 11"/>
          <p:cNvSpPr/>
          <p:nvPr/>
        </p:nvSpPr>
        <p:spPr>
          <a:xfrm>
            <a:off x="3154679" y="3063239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496311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  <a:latin typeface="Calibri"/>
              </a:rPr>
              <a:t>1966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1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06039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ELIZA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1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Reglas y patrones; ilusión de comprensión</a:t>
            </a:r>
          </a:p>
        </p:txBody>
      </p:sp>
      <p:sp>
        <p:nvSpPr>
          <p:cNvPr id="17" name="Oval 16"/>
          <p:cNvSpPr/>
          <p:nvPr/>
        </p:nvSpPr>
        <p:spPr>
          <a:xfrm>
            <a:off x="5010912" y="3063239"/>
            <a:ext cx="365760" cy="36576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52544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0E676"/>
                </a:solidFill>
                <a:latin typeface="Calibri"/>
              </a:rPr>
              <a:t>1990s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62272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N-gramas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Probabilidad a partir de conteos</a:t>
            </a:r>
          </a:p>
        </p:txBody>
      </p:sp>
      <p:sp>
        <p:nvSpPr>
          <p:cNvPr id="22" name="Oval 21"/>
          <p:cNvSpPr/>
          <p:nvPr/>
        </p:nvSpPr>
        <p:spPr>
          <a:xfrm>
            <a:off x="6867144" y="3063239"/>
            <a:ext cx="365760" cy="36576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9B7BFF"/>
                </a:solidFill>
                <a:latin typeface="Calibri"/>
              </a:rPr>
              <a:t>2003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18504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Modelo neuronal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Bengio: palabras como vectores</a:t>
            </a:r>
          </a:p>
        </p:txBody>
      </p:sp>
      <p:sp>
        <p:nvSpPr>
          <p:cNvPr id="27" name="Oval 26"/>
          <p:cNvSpPr/>
          <p:nvPr/>
        </p:nvSpPr>
        <p:spPr>
          <a:xfrm>
            <a:off x="8723376" y="3063239"/>
            <a:ext cx="365760" cy="36576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065007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5C7A"/>
                </a:solidFill>
                <a:latin typeface="Calibri"/>
              </a:rPr>
              <a:t>2013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7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74735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word2vec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7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El significado como geometría</a:t>
            </a:r>
          </a:p>
        </p:txBody>
      </p:sp>
      <p:sp>
        <p:nvSpPr>
          <p:cNvPr id="32" name="Oval 31"/>
          <p:cNvSpPr/>
          <p:nvPr/>
        </p:nvSpPr>
        <p:spPr>
          <a:xfrm>
            <a:off x="10579607" y="3063239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921239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  <a:latin typeface="Calibri"/>
              </a:rPr>
              <a:t>2014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39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030967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Seq2seq + atención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79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Traducción neuronal; nace la atención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1 · ORIGEN Y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Evolución: la era del Transformer (2017–2026)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9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246120"/>
            <a:ext cx="10698480" cy="0"/>
          </a:xfrm>
          <a:prstGeom prst="line">
            <a:avLst/>
          </a:prstGeom>
          <a:ln w="381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298448" y="3063239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0D4FF"/>
                </a:solidFill>
                <a:latin typeface="Calibri"/>
              </a:rPr>
              <a:t>2017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Transformer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“Attention Is All You Need”</a:t>
            </a:r>
          </a:p>
        </p:txBody>
      </p:sp>
      <p:sp>
        <p:nvSpPr>
          <p:cNvPr id="12" name="Oval 11"/>
          <p:cNvSpPr/>
          <p:nvPr/>
        </p:nvSpPr>
        <p:spPr>
          <a:xfrm>
            <a:off x="3154679" y="3063239"/>
            <a:ext cx="365760" cy="3657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496311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  <a:latin typeface="Calibri"/>
              </a:rPr>
              <a:t>2018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96311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606039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GPT-1 · 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1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Pre-entrenar una vez, adaptar a muchas tareas</a:t>
            </a:r>
          </a:p>
        </p:txBody>
      </p:sp>
      <p:sp>
        <p:nvSpPr>
          <p:cNvPr id="17" name="Oval 16"/>
          <p:cNvSpPr/>
          <p:nvPr/>
        </p:nvSpPr>
        <p:spPr>
          <a:xfrm>
            <a:off x="5010912" y="3063239"/>
            <a:ext cx="365760" cy="36576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352544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0E676"/>
                </a:solidFill>
                <a:latin typeface="Calibri"/>
              </a:rPr>
              <a:t>2020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52544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62272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GPT-3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3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175 mil millones de parámetros; few-shot</a:t>
            </a:r>
          </a:p>
        </p:txBody>
      </p:sp>
      <p:sp>
        <p:nvSpPr>
          <p:cNvPr id="22" name="Oval 21"/>
          <p:cNvSpPr/>
          <p:nvPr/>
        </p:nvSpPr>
        <p:spPr>
          <a:xfrm>
            <a:off x="6867144" y="3063239"/>
            <a:ext cx="365760" cy="36576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8776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9B7BFF"/>
                </a:solidFill>
                <a:latin typeface="Calibri"/>
              </a:rPr>
              <a:t>2022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08776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318504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ChatGPT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0216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Instrucciones + RLHF; adopción masiva</a:t>
            </a:r>
          </a:p>
        </p:txBody>
      </p:sp>
      <p:sp>
        <p:nvSpPr>
          <p:cNvPr id="27" name="Oval 26"/>
          <p:cNvSpPr/>
          <p:nvPr/>
        </p:nvSpPr>
        <p:spPr>
          <a:xfrm>
            <a:off x="8723376" y="3063239"/>
            <a:ext cx="365760" cy="36576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065007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5C7A"/>
                </a:solidFill>
                <a:latin typeface="Calibri"/>
              </a:rPr>
              <a:t>2023–24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5007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74735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Abiertos y multimodales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56447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Llama, Gemini, Claude; contexto de 1M</a:t>
            </a:r>
          </a:p>
        </p:txBody>
      </p:sp>
      <p:sp>
        <p:nvSpPr>
          <p:cNvPr id="32" name="Oval 31"/>
          <p:cNvSpPr/>
          <p:nvPr/>
        </p:nvSpPr>
        <p:spPr>
          <a:xfrm>
            <a:off x="10579607" y="3063239"/>
            <a:ext cx="365760" cy="3657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921239" y="1783080"/>
            <a:ext cx="1691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  <a:latin typeface="Calibri"/>
              </a:rPr>
              <a:t>2025–26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21239" y="3749039"/>
            <a:ext cx="1691640" cy="2331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030967" y="3886200"/>
            <a:ext cx="147218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E6EEF5"/>
                </a:solidFill>
                <a:latin typeface="Calibri"/>
              </a:rPr>
              <a:t>Agentes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79" y="4617720"/>
            <a:ext cx="1508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8EA3B5"/>
                </a:solidFill>
                <a:latin typeface="Arial"/>
              </a:rPr>
              <a:t>LLM + herramientas + plataformas de agentes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1 · ORIGEN Y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Tres fuerzas explican la evolución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92808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Representación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108960" cy="2148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6EEF5"/>
                </a:solidFill>
                <a:latin typeface="Arial"/>
              </a:rPr>
              <a:t>De símbolos aislados a vectores (embeddings) donde la distancia refleja el significado.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9164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26279" y="192024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892808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Arquitectura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514600"/>
            <a:ext cx="3108960" cy="2148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6EEF5"/>
                </a:solidFill>
                <a:latin typeface="Arial"/>
              </a:rPr>
              <a:t>De leer palabra por palabra (RNN) a relacionar toda la secuencia en paralelo con atención (Transformer).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91640"/>
            <a:ext cx="3520440" cy="31089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275319" y="192024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892808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E676"/>
                </a:solidFill>
                <a:latin typeface="Calibri"/>
              </a:rPr>
              <a:t>Escala + alineamiento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514600"/>
            <a:ext cx="3108960" cy="2148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6EEF5"/>
                </a:solidFill>
                <a:latin typeface="Arial"/>
              </a:rPr>
              <a:t>Más datos, parámetros y cómputo → nuevas capacidades. El ajuste con instrucciones y preferencias humanas las vuelve útiles.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074920"/>
            <a:ext cx="1060704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Arial"/>
              </a:rPr>
              <a:t>Idea clave: </a:t>
            </a:r>
            <a:r>
              <a:rPr sz="1700" b="0" i="0">
                <a:solidFill>
                  <a:srgbClr val="E6EEF5"/>
                </a:solidFill>
                <a:latin typeface="Arial"/>
              </a:rPr>
              <a:t>la tarea no cambió en 70 años (predecir la siguiente palabra); cambiaron la representación, la arquitectura y la escala con que se aprende.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1 · ORIGEN Y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De palabras a vectores: el significado como geometría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6583680" cy="4572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188720" y="2103120"/>
            <a:ext cx="182880" cy="1828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417320" y="202082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crédito</a:t>
            </a:r>
          </a:p>
        </p:txBody>
      </p:sp>
      <p:sp>
        <p:nvSpPr>
          <p:cNvPr id="9" name="Oval 8"/>
          <p:cNvSpPr/>
          <p:nvPr/>
        </p:nvSpPr>
        <p:spPr>
          <a:xfrm>
            <a:off x="2286000" y="1920240"/>
            <a:ext cx="182880" cy="1828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514600" y="183794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préstamo</a:t>
            </a:r>
          </a:p>
        </p:txBody>
      </p:sp>
      <p:sp>
        <p:nvSpPr>
          <p:cNvPr id="11" name="Oval 10"/>
          <p:cNvSpPr/>
          <p:nvPr/>
        </p:nvSpPr>
        <p:spPr>
          <a:xfrm>
            <a:off x="1645920" y="2743200"/>
            <a:ext cx="182880" cy="1828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874519" y="266090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tasa</a:t>
            </a:r>
          </a:p>
        </p:txBody>
      </p:sp>
      <p:sp>
        <p:nvSpPr>
          <p:cNvPr id="13" name="Oval 12"/>
          <p:cNvSpPr/>
          <p:nvPr/>
        </p:nvSpPr>
        <p:spPr>
          <a:xfrm>
            <a:off x="2651760" y="2651760"/>
            <a:ext cx="182880" cy="1828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880360" y="256946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cuota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0" y="2103120"/>
            <a:ext cx="182880" cy="18288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800600" y="202082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EPS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0" y="2286000"/>
            <a:ext cx="182880" cy="18288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97880" y="220370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cita</a:t>
            </a:r>
          </a:p>
        </p:txBody>
      </p:sp>
      <p:sp>
        <p:nvSpPr>
          <p:cNvPr id="19" name="Oval 18"/>
          <p:cNvSpPr/>
          <p:nvPr/>
        </p:nvSpPr>
        <p:spPr>
          <a:xfrm>
            <a:off x="4937760" y="2926080"/>
            <a:ext cx="182880" cy="18288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166360" y="284378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médico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0" y="3017520"/>
            <a:ext cx="182880" cy="18288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172200" y="293522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vacuna</a:t>
            </a:r>
          </a:p>
        </p:txBody>
      </p:sp>
      <p:sp>
        <p:nvSpPr>
          <p:cNvPr id="23" name="Oval 22"/>
          <p:cNvSpPr/>
          <p:nvPr/>
        </p:nvSpPr>
        <p:spPr>
          <a:xfrm>
            <a:off x="1371600" y="4572000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600200" y="448970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torno</a:t>
            </a:r>
          </a:p>
        </p:txBody>
      </p:sp>
      <p:sp>
        <p:nvSpPr>
          <p:cNvPr id="25" name="Oval 24"/>
          <p:cNvSpPr/>
          <p:nvPr/>
        </p:nvSpPr>
        <p:spPr>
          <a:xfrm>
            <a:off x="2468880" y="4846320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697480" y="476402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calidad</a:t>
            </a:r>
          </a:p>
        </p:txBody>
      </p:sp>
      <p:sp>
        <p:nvSpPr>
          <p:cNvPr id="27" name="Oval 26"/>
          <p:cNvSpPr/>
          <p:nvPr/>
        </p:nvSpPr>
        <p:spPr>
          <a:xfrm>
            <a:off x="1737360" y="5394960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965960" y="531266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lote</a:t>
            </a:r>
          </a:p>
        </p:txBody>
      </p:sp>
      <p:sp>
        <p:nvSpPr>
          <p:cNvPr id="29" name="Oval 28"/>
          <p:cNvSpPr/>
          <p:nvPr/>
        </p:nvSpPr>
        <p:spPr>
          <a:xfrm>
            <a:off x="2926080" y="5486400"/>
            <a:ext cx="182880" cy="1828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154680" y="540410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planta</a:t>
            </a:r>
          </a:p>
        </p:txBody>
      </p:sp>
      <p:sp>
        <p:nvSpPr>
          <p:cNvPr id="31" name="Oval 30"/>
          <p:cNvSpPr/>
          <p:nvPr/>
        </p:nvSpPr>
        <p:spPr>
          <a:xfrm>
            <a:off x="4663440" y="4572000"/>
            <a:ext cx="182880" cy="18288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892040" y="448970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rey</a:t>
            </a:r>
          </a:p>
        </p:txBody>
      </p:sp>
      <p:sp>
        <p:nvSpPr>
          <p:cNvPr id="33" name="Oval 32"/>
          <p:cNvSpPr/>
          <p:nvPr/>
        </p:nvSpPr>
        <p:spPr>
          <a:xfrm>
            <a:off x="5760720" y="4572000"/>
            <a:ext cx="182880" cy="18288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989320" y="448970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reina</a:t>
            </a:r>
          </a:p>
        </p:txBody>
      </p:sp>
      <p:sp>
        <p:nvSpPr>
          <p:cNvPr id="35" name="Oval 34"/>
          <p:cNvSpPr/>
          <p:nvPr/>
        </p:nvSpPr>
        <p:spPr>
          <a:xfrm>
            <a:off x="4663440" y="5394960"/>
            <a:ext cx="182880" cy="18288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892040" y="531266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hombre</a:t>
            </a:r>
          </a:p>
        </p:txBody>
      </p:sp>
      <p:sp>
        <p:nvSpPr>
          <p:cNvPr id="37" name="Oval 36"/>
          <p:cNvSpPr/>
          <p:nvPr/>
        </p:nvSpPr>
        <p:spPr>
          <a:xfrm>
            <a:off x="5760720" y="5394960"/>
            <a:ext cx="182880" cy="18288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989320" y="531266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6EEF5"/>
                </a:solidFill>
                <a:latin typeface="Arial"/>
              </a:rPr>
              <a:t>mujer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846320" y="4754880"/>
            <a:ext cx="960120" cy="0"/>
          </a:xfrm>
          <a:prstGeom prst="line">
            <a:avLst/>
          </a:prstGeom>
          <a:ln w="19050">
            <a:solidFill>
              <a:srgbClr val="9B7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846320" y="5577840"/>
            <a:ext cx="960120" cy="0"/>
          </a:xfrm>
          <a:prstGeom prst="line">
            <a:avLst/>
          </a:prstGeom>
          <a:ln w="19050">
            <a:solidFill>
              <a:srgbClr val="9B7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77240" y="1691640"/>
            <a:ext cx="6126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A3B5"/>
                </a:solidFill>
                <a:latin typeface="Arial"/>
              </a:rPr>
              <a:t>Proyección 2D ilustrativa de un espacio de embeddings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1645920"/>
            <a:ext cx="4114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Embedding: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vector de cientos o miles de números que representa un texto.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Cercanía =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similitud de significado.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Relaciones como direcciones: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rey − hombre + mujer ≈ reina.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Base de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búsqueda semántica, clasificación y RAG.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79" y="4892040"/>
            <a:ext cx="4114800" cy="1234440"/>
          </a:xfrm>
          <a:prstGeom prst="roundRect">
            <a:avLst>
              <a:gd name="adj" fmla="val 4000"/>
            </a:avLst>
          </a:prstGeom>
          <a:solidFill>
            <a:srgbClr val="0A121A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/>
            <a:r>
              <a:rPr sz="1400" b="0" i="0">
                <a:solidFill>
                  <a:srgbClr val="00E676"/>
                </a:solidFill>
                <a:latin typeface="Courier New"/>
              </a:rPr>
              <a:t>“crédito” → [0.12, −0.87,</a:t>
            </a:r>
          </a:p>
          <a:p>
            <a:pPr algn="l"/>
            <a:r>
              <a:rPr sz="1400" b="0" i="0">
                <a:solidFill>
                  <a:srgbClr val="00E676"/>
                </a:solidFill>
                <a:latin typeface="Courier New"/>
              </a:rPr>
              <a:t>   0.33, …, 0.05]   (768 dim.)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1 · ORIGEN Y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El salto de 2017: de leer en fila a mirar todo a la vez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5C7A"/>
                </a:solidFill>
                <a:latin typeface="Calibri"/>
              </a:rPr>
              <a:t>RNN / LSTM (hasta 2017)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59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91639" y="3886200"/>
            <a:ext cx="118873" cy="0"/>
          </a:xfrm>
          <a:prstGeom prst="line">
            <a:avLst/>
          </a:prstGeom>
          <a:ln w="25400">
            <a:solidFill>
              <a:srgbClr val="FF5C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10512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banco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9191" y="3886200"/>
            <a:ext cx="118873" cy="0"/>
          </a:xfrm>
          <a:prstGeom prst="line">
            <a:avLst/>
          </a:prstGeom>
          <a:ln w="25400">
            <a:solidFill>
              <a:srgbClr val="FF5C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98064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aprobó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66744" y="3886200"/>
            <a:ext cx="118872" cy="0"/>
          </a:xfrm>
          <a:prstGeom prst="line">
            <a:avLst/>
          </a:prstGeom>
          <a:ln w="25400">
            <a:solidFill>
              <a:srgbClr val="FF5C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785616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el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54296" y="3886200"/>
            <a:ext cx="118872" cy="0"/>
          </a:xfrm>
          <a:prstGeom prst="line">
            <a:avLst/>
          </a:prstGeom>
          <a:ln w="25400">
            <a:solidFill>
              <a:srgbClr val="FF5C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773168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crédito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2788920"/>
            <a:ext cx="320040" cy="32004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 flipV="1">
            <a:off x="1252728" y="3136392"/>
            <a:ext cx="0" cy="457200"/>
          </a:xfrm>
          <a:prstGeom prst="line">
            <a:avLst/>
          </a:prstGeom>
          <a:ln w="15875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084831" y="2788920"/>
            <a:ext cx="320040" cy="32004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 flipV="1">
            <a:off x="2240280" y="3136392"/>
            <a:ext cx="0" cy="457200"/>
          </a:xfrm>
          <a:prstGeom prst="line">
            <a:avLst/>
          </a:prstGeom>
          <a:ln w="15875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3072384" y="2788920"/>
            <a:ext cx="320040" cy="32004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2" name="Connector 21"/>
          <p:cNvCxnSpPr/>
          <p:nvPr/>
        </p:nvCxnSpPr>
        <p:spPr>
          <a:xfrm flipV="1">
            <a:off x="3227832" y="3136392"/>
            <a:ext cx="0" cy="457200"/>
          </a:xfrm>
          <a:prstGeom prst="line">
            <a:avLst/>
          </a:prstGeom>
          <a:ln w="15875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4059936" y="2788920"/>
            <a:ext cx="320040" cy="32004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 flipV="1">
            <a:off x="4215384" y="3136392"/>
            <a:ext cx="0" cy="457200"/>
          </a:xfrm>
          <a:prstGeom prst="line">
            <a:avLst/>
          </a:prstGeom>
          <a:ln w="15875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5047488" y="2788920"/>
            <a:ext cx="320040" cy="32004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6" name="Connector 25"/>
          <p:cNvCxnSpPr/>
          <p:nvPr/>
        </p:nvCxnSpPr>
        <p:spPr>
          <a:xfrm flipV="1">
            <a:off x="5202936" y="3136392"/>
            <a:ext cx="0" cy="457200"/>
          </a:xfrm>
          <a:prstGeom prst="line">
            <a:avLst/>
          </a:prstGeom>
          <a:ln w="15875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59" y="2286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EA3B5"/>
                </a:solidFill>
                <a:latin typeface="Arial"/>
              </a:rPr>
              <a:t>estado oculto →  →  →  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448056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E6EEF5"/>
                </a:solidFill>
                <a:latin typeface="Arial"/>
              </a:rPr>
              <a:t>Secuencial: cada paso depende del anterior. Lento de entrenar y olvida el contexto lejano.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600200"/>
            <a:ext cx="5394960" cy="4572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00E676"/>
                </a:solidFill>
                <a:latin typeface="Calibri"/>
              </a:rPr>
              <a:t>Transformer (2017 →)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79792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banco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67344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aprobó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54896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442448" y="3611880"/>
            <a:ext cx="86868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crédito</a:t>
            </a:r>
          </a:p>
        </p:txBody>
      </p:sp>
      <p:cxnSp>
        <p:nvCxnSpPr>
          <p:cNvPr id="36" name="Connector 35"/>
          <p:cNvCxnSpPr/>
          <p:nvPr/>
        </p:nvCxnSpPr>
        <p:spPr>
          <a:xfrm flipV="1">
            <a:off x="6922007" y="2697480"/>
            <a:ext cx="987553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6922007" y="2697480"/>
            <a:ext cx="1975105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922007" y="2697480"/>
            <a:ext cx="2962657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922007" y="2697480"/>
            <a:ext cx="3950209" cy="896112"/>
          </a:xfrm>
          <a:prstGeom prst="line">
            <a:avLst/>
          </a:prstGeom>
          <a:ln w="1270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6922007" y="2697480"/>
            <a:ext cx="987553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7909560" y="2697480"/>
            <a:ext cx="987552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909560" y="2697480"/>
            <a:ext cx="1975104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909560" y="2697480"/>
            <a:ext cx="2962656" cy="896112"/>
          </a:xfrm>
          <a:prstGeom prst="line">
            <a:avLst/>
          </a:prstGeom>
          <a:ln w="1270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 flipV="1">
            <a:off x="6922007" y="2697480"/>
            <a:ext cx="1975105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 flipV="1">
            <a:off x="7909560" y="2697480"/>
            <a:ext cx="987552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897112" y="2697480"/>
            <a:ext cx="987552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8897112" y="2697480"/>
            <a:ext cx="1975104" cy="896112"/>
          </a:xfrm>
          <a:prstGeom prst="line">
            <a:avLst/>
          </a:prstGeom>
          <a:ln w="1270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6922007" y="2697480"/>
            <a:ext cx="2962657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H="1" flipV="1">
            <a:off x="7909560" y="2697480"/>
            <a:ext cx="1975104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 flipV="1">
            <a:off x="8897112" y="2697480"/>
            <a:ext cx="987552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9884664" y="2697480"/>
            <a:ext cx="987552" cy="896112"/>
          </a:xfrm>
          <a:prstGeom prst="line">
            <a:avLst/>
          </a:prstGeom>
          <a:ln w="12700">
            <a:solidFill>
              <a:srgbClr val="00E6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 flipV="1">
            <a:off x="6922007" y="2697480"/>
            <a:ext cx="3950209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 flipV="1">
            <a:off x="7909560" y="2697480"/>
            <a:ext cx="2962656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 flipV="1">
            <a:off x="8897112" y="2697480"/>
            <a:ext cx="1975104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 flipV="1">
            <a:off x="9884664" y="2697480"/>
            <a:ext cx="987552" cy="896112"/>
          </a:xfrm>
          <a:prstGeom prst="line">
            <a:avLst/>
          </a:prstGeom>
          <a:ln w="12700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6766559" y="2377440"/>
            <a:ext cx="320040" cy="32004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7754112" y="2377440"/>
            <a:ext cx="320040" cy="32004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Oval 57"/>
          <p:cNvSpPr/>
          <p:nvPr/>
        </p:nvSpPr>
        <p:spPr>
          <a:xfrm>
            <a:off x="8741664" y="2377440"/>
            <a:ext cx="320040" cy="32004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9729216" y="2377440"/>
            <a:ext cx="320040" cy="32004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Oval 59"/>
          <p:cNvSpPr/>
          <p:nvPr/>
        </p:nvSpPr>
        <p:spPr>
          <a:xfrm>
            <a:off x="10716768" y="2377440"/>
            <a:ext cx="320040" cy="32004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6492240" y="4480560"/>
            <a:ext cx="484632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E6EEF5"/>
                </a:solidFill>
                <a:latin typeface="Arial"/>
              </a:rPr>
              <a:t>Paralelo: cada token atiende a todos los demás. Escala en GPU y captura dependencias largas.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1 · ORIGEN Y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La escala: crecimiento de los modelos (parámetros)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13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7498079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321040" y="1600200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549640" y="182880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801368"/>
            <a:ext cx="22859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Leyes de escala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423160"/>
            <a:ext cx="28803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El error baja de forma predecible al aumentar parámetros, datos y cómputo.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977639"/>
            <a:ext cx="3291840" cy="2194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549640" y="4206240"/>
            <a:ext cx="457200" cy="45720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4178807"/>
            <a:ext cx="22859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5C7A"/>
                </a:solidFill>
                <a:latin typeface="Calibri"/>
              </a:rPr>
              <a:t>Para el arquitecto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4800600"/>
            <a:ext cx="2880360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Más parámetros = más memoria, más latencia y más costo por token.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1 · ORIGEN Y EVOLUCIÓN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De modelo base a asistente: las tres etapas de entrenamiento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383280" cy="4206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920240"/>
            <a:ext cx="640080" cy="64008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D4FF"/>
                </a:solidFill>
                <a:latin typeface="Calibri"/>
              </a:rPr>
              <a:t>Pre-entrenamiento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4747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EA3B5"/>
                </a:solidFill>
                <a:latin typeface="Arial"/>
              </a:rPr>
              <a:t>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49039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Billones de tokens · autosupervisado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3891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EA3B5"/>
                </a:solidFill>
                <a:latin typeface="Arial"/>
              </a:rPr>
              <a:t>RESULTADO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6634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EEF5"/>
                </a:solidFill>
                <a:latin typeface="Arial"/>
              </a:rPr>
              <a:t>Modelo base: autocompleta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5257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A3B5"/>
                </a:solidFill>
                <a:latin typeface="Arial"/>
              </a:rPr>
              <a:t>Meses · miles de GPU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3794760"/>
            <a:ext cx="320040" cy="0"/>
          </a:xfrm>
          <a:prstGeom prst="line">
            <a:avLst/>
          </a:prstGeom>
          <a:ln w="317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43400" y="1691640"/>
            <a:ext cx="3383280" cy="4206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4617720" y="1920240"/>
            <a:ext cx="640080" cy="64008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7432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5A623"/>
                </a:solidFill>
                <a:latin typeface="Calibri"/>
              </a:rPr>
              <a:t>Ajuste supervisado (SFT)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4747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EA3B5"/>
                </a:solidFill>
                <a:latin typeface="Arial"/>
              </a:rPr>
              <a:t>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749039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Pares instrucción → respuesta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3891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EA3B5"/>
                </a:solidFill>
                <a:latin typeface="Arial"/>
              </a:rPr>
              <a:t>RESULTADO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6634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EEF5"/>
                </a:solidFill>
                <a:latin typeface="Arial"/>
              </a:rPr>
              <a:t>Sigue instrucciones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5257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A3B5"/>
                </a:solidFill>
                <a:latin typeface="Arial"/>
              </a:rPr>
              <a:t>Días · datos curados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0" y="3794760"/>
            <a:ext cx="320040" cy="0"/>
          </a:xfrm>
          <a:prstGeom prst="line">
            <a:avLst/>
          </a:prstGeom>
          <a:ln w="317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38160" y="1691640"/>
            <a:ext cx="3383280" cy="4206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4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4320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00E676"/>
                </a:solidFill>
                <a:latin typeface="Calibri"/>
              </a:rPr>
              <a:t>Alineamiento (RLHF / DPO)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747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EA3B5"/>
                </a:solidFill>
                <a:latin typeface="Arial"/>
              </a:rPr>
              <a:t>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749039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Preferencias humanas entre respuestas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389120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EA3B5"/>
                </a:solidFill>
                <a:latin typeface="Arial"/>
              </a:rPr>
              <a:t>RESULTADO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663440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6EEF5"/>
                </a:solidFill>
                <a:latin typeface="Arial"/>
              </a:rPr>
              <a:t>Útil, honesto, seguro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5257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A3B5"/>
                </a:solidFill>
                <a:latin typeface="Arial"/>
              </a:rPr>
              <a:t>Días · evaluadores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5A623"/>
                </a:solidFill>
                <a:latin typeface="Arial"/>
              </a:rPr>
              <a:t>Las empresas casi nunca hacen la etapa 1: consumen modelos ya entrenados y los adaptan con prompts, RAG o ajuste fino.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00D4FF"/>
                </a:solidFill>
                <a:latin typeface="Calibri"/>
              </a:rPr>
              <a:t>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6EEF5"/>
                </a:solidFill>
                <a:latin typeface="Calibri"/>
              </a:rPr>
              <a:t>¿Cómo funciona un LLM por dentro?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EA3B5"/>
                </a:solidFill>
                <a:latin typeface="Arial"/>
              </a:rPr>
              <a:t>El recorrido de un prompt: tokens → embeddings → atención → probabilidades → texto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2 · CÓMO FUNCIONA UN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El recorrido de un prompt dentro del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00D4FF"/>
                </a:solidFill>
                <a:latin typeface="Arial"/>
              </a:rPr>
              <a:t>Texto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118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“¿Cuál es mi</a:t>
            </a:r>
          </a:p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saldo?”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12848" y="2743200"/>
            <a:ext cx="210312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41448" y="20116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F5A623"/>
                </a:solidFill>
                <a:latin typeface="Arial"/>
              </a:rPr>
              <a:t>Tokenizador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1448" y="36118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[31, 4521,</a:t>
            </a:r>
          </a:p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318, 9912]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05656" y="2743200"/>
            <a:ext cx="210312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34255" y="20116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00E676"/>
                </a:solidFill>
                <a:latin typeface="Arial"/>
              </a:rPr>
              <a:t>Embeddings</a:t>
            </a:r>
          </a:p>
          <a:p>
            <a:pPr algn="ctr"/>
            <a:r>
              <a:rPr sz="1500" b="1" i="0">
                <a:solidFill>
                  <a:srgbClr val="00E676"/>
                </a:solidFill>
                <a:latin typeface="Arial"/>
              </a:rPr>
              <a:t>+ posición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5" y="36118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vectores de</a:t>
            </a:r>
          </a:p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~4.096 dim.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98464" y="2743200"/>
            <a:ext cx="210311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27063" y="20116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9B7BFF"/>
                </a:solidFill>
                <a:latin typeface="Arial"/>
              </a:rPr>
              <a:t>N bloques</a:t>
            </a:r>
          </a:p>
          <a:p>
            <a:pPr algn="ctr"/>
            <a:r>
              <a:rPr sz="1500" b="1" i="0">
                <a:solidFill>
                  <a:srgbClr val="9B7BFF"/>
                </a:solidFill>
                <a:latin typeface="Arial"/>
              </a:rPr>
              <a:t>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3" y="36118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atención +</a:t>
            </a:r>
          </a:p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feed-forward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91271" y="2743200"/>
            <a:ext cx="210312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19871" y="20116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FF5C7A"/>
                </a:solidFill>
                <a:latin typeface="Arial"/>
              </a:rPr>
              <a:t>Softmax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1" y="36118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probabilidad de</a:t>
            </a:r>
          </a:p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cada token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84080" y="2743200"/>
            <a:ext cx="210312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12680" y="2011680"/>
            <a:ext cx="1645920" cy="14630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00D4FF"/>
                </a:solidFill>
                <a:latin typeface="Arial"/>
              </a:rPr>
              <a:t>Siguiente</a:t>
            </a:r>
          </a:p>
          <a:p>
            <a:pPr algn="ctr"/>
            <a:r>
              <a:rPr sz="1500" b="1" i="0">
                <a:solidFill>
                  <a:srgbClr val="00D4FF"/>
                </a:solidFill>
                <a:latin typeface="Arial"/>
              </a:rPr>
              <a:t>token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3611880"/>
            <a:ext cx="1645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“Su”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515600" y="4434840"/>
            <a:ext cx="0" cy="457200"/>
          </a:xfrm>
          <a:prstGeom prst="line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371600" y="4892040"/>
            <a:ext cx="9144000" cy="0"/>
          </a:xfrm>
          <a:prstGeom prst="line">
            <a:avLst/>
          </a:prstGeom>
          <a:ln w="25400">
            <a:solidFill>
              <a:srgbClr val="F5A6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371600" y="4434840"/>
            <a:ext cx="0" cy="457200"/>
          </a:xfrm>
          <a:prstGeom prst="line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26080" y="502920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 i="1">
                <a:solidFill>
                  <a:srgbClr val="F5A623"/>
                </a:solidFill>
                <a:latin typeface="Arial"/>
              </a:rPr>
              <a:t>Se agrega el token al texto y se repite: generación autorregresiva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Generar 500 tokens = 500 pasadas por el modelo. Por eso la salida es más lenta y más cara que la entrada.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2 · CÓMO FUNCIONA UN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Tokenización: la unidad de cómputo, de contexto y de cobro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51129" cy="566928"/>
          </a:xfrm>
          <a:prstGeom prst="roundRect">
            <a:avLst>
              <a:gd name="adj" fmla="val 15000"/>
            </a:avLst>
          </a:prstGeom>
          <a:solidFill>
            <a:srgbClr val="1D2D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0" i="0">
                <a:solidFill>
                  <a:srgbClr val="E6EEF5"/>
                </a:solidFill>
                <a:latin typeface="Courier New"/>
              </a:rPr>
              <a:t>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2921" y="1737360"/>
            <a:ext cx="1170432" cy="566928"/>
          </a:xfrm>
          <a:prstGeom prst="roundRect">
            <a:avLst>
              <a:gd name="adj" fmla="val 15000"/>
            </a:avLst>
          </a:prstGeom>
          <a:solidFill>
            <a:srgbClr val="1D2D3B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0" i="0">
                <a:solidFill>
                  <a:srgbClr val="E6EEF5"/>
                </a:solidFill>
                <a:latin typeface="Courier New"/>
              </a:rPr>
              <a:t>·transform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16505" y="1737360"/>
            <a:ext cx="658368" cy="566928"/>
          </a:xfrm>
          <a:prstGeom prst="roundRect">
            <a:avLst>
              <a:gd name="adj" fmla="val 15000"/>
            </a:avLst>
          </a:prstGeom>
          <a:solidFill>
            <a:srgbClr val="1D2D3B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0" i="0">
                <a:solidFill>
                  <a:srgbClr val="E6EEF5"/>
                </a:solidFill>
                <a:latin typeface="Courier New"/>
              </a:rPr>
              <a:t>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8025" y="1737360"/>
            <a:ext cx="965606" cy="566928"/>
          </a:xfrm>
          <a:prstGeom prst="roundRect">
            <a:avLst>
              <a:gd name="adj" fmla="val 15000"/>
            </a:avLst>
          </a:prstGeom>
          <a:solidFill>
            <a:srgbClr val="1D2D3B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0" i="0">
                <a:solidFill>
                  <a:srgbClr val="E6EEF5"/>
                </a:solidFill>
                <a:latin typeface="Courier New"/>
              </a:rPr>
              <a:t>·digital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86784" y="1737360"/>
            <a:ext cx="453542" cy="566928"/>
          </a:xfrm>
          <a:prstGeom prst="roundRect">
            <a:avLst>
              <a:gd name="adj" fmla="val 15000"/>
            </a:avLst>
          </a:prstGeom>
          <a:solidFill>
            <a:srgbClr val="1D2D3B"/>
          </a:solidFill>
          <a:ln w="1905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0" i="0">
                <a:solidFill>
                  <a:srgbClr val="E6EEF5"/>
                </a:solidFill>
                <a:latin typeface="Courier New"/>
              </a:rPr>
              <a:t>·en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3478" y="1737360"/>
            <a:ext cx="555955" cy="566928"/>
          </a:xfrm>
          <a:prstGeom prst="roundRect">
            <a:avLst>
              <a:gd name="adj" fmla="val 15000"/>
            </a:avLst>
          </a:prstGeom>
          <a:solidFill>
            <a:srgbClr val="1D2D3B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0" i="0">
                <a:solidFill>
                  <a:srgbClr val="E6EEF5"/>
                </a:solidFill>
                <a:latin typeface="Courier New"/>
              </a:rPr>
              <a:t>·Lat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42585" y="1737360"/>
            <a:ext cx="453542" cy="566928"/>
          </a:xfrm>
          <a:prstGeom prst="roundRect">
            <a:avLst>
              <a:gd name="adj" fmla="val 15000"/>
            </a:avLst>
          </a:prstGeom>
          <a:solidFill>
            <a:srgbClr val="1D2D3B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0" i="0">
                <a:solidFill>
                  <a:srgbClr val="E6EEF5"/>
                </a:solidFill>
                <a:latin typeface="Courier New"/>
              </a:rPr>
              <a:t>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79" y="1737360"/>
            <a:ext cx="453542" cy="566928"/>
          </a:xfrm>
          <a:prstGeom prst="roundRect">
            <a:avLst>
              <a:gd name="adj" fmla="val 15000"/>
            </a:avLst>
          </a:prstGeom>
          <a:solidFill>
            <a:srgbClr val="1D2D3B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0" i="0">
                <a:solidFill>
                  <a:srgbClr val="E6EEF5"/>
                </a:solidFill>
                <a:latin typeface="Courier New"/>
              </a:rPr>
              <a:t>amé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974" y="1737360"/>
            <a:ext cx="555955" cy="566928"/>
          </a:xfrm>
          <a:prstGeom prst="roundRect">
            <a:avLst>
              <a:gd name="adj" fmla="val 15000"/>
            </a:avLst>
          </a:prstGeom>
          <a:solidFill>
            <a:srgbClr val="1D2D3B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0" i="0">
                <a:solidFill>
                  <a:srgbClr val="E6EEF5"/>
                </a:solidFill>
                <a:latin typeface="Courier New"/>
              </a:rPr>
              <a:t>rica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423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EA3B5"/>
                </a:solidFill>
                <a:latin typeface="Arial"/>
              </a:rPr>
              <a:t>Ejemplo ilustrativo: 4 palabras → 9 tokens (“·” = espacio)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971800"/>
          <a:ext cx="6400800" cy="3017515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840480"/>
                <a:gridCol w="1280160"/>
                <a:gridCol w="1280160"/>
              </a:tblGrid>
              <a:tr h="603503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Texto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Palabras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Tokens*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“¿Cuál es el saldo de mi cuenta?”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≈ 9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“What is my account balance?”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≈ 6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“1.234.567,89”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≈ 7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603503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def suma(a, b): return a+b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≈ 11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A3B5"/>
                </a:solidFill>
                <a:latin typeface="Arial"/>
              </a:rPr>
              <a:t>* Valores aproximados; dependen del tokenizador de cada modelo.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1737360"/>
            <a:ext cx="4206240" cy="1280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35240" y="182880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D4FF"/>
                </a:solidFill>
                <a:latin typeface="Calibri"/>
              </a:rPr>
              <a:t>1,3–1,6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514600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tokens por palabra en español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200400"/>
            <a:ext cx="4206240" cy="1280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635240" y="329184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5A623"/>
                </a:solidFill>
                <a:latin typeface="Calibri"/>
              </a:rPr>
              <a:t>~700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97763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tokens por página de texto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06640" y="4663440"/>
            <a:ext cx="4206240" cy="1280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5240" y="4754879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00E676"/>
                </a:solidFill>
                <a:latin typeface="Calibri"/>
              </a:rPr>
              <a:t>100–200 mil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5440679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tokens en el vocabulario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2 · CÓMO FUNCIONA UN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Auto-atención: cada token decide a quién prestar atención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31920"/>
            <a:ext cx="512064" cy="566928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52144" y="3931920"/>
            <a:ext cx="868680" cy="566928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banco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12264" y="3931920"/>
            <a:ext cx="1106424" cy="566928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rechazó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3931920"/>
            <a:ext cx="512064" cy="566928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13632" y="3931920"/>
            <a:ext cx="1344168" cy="566928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>
                <a:solidFill>
                  <a:srgbClr val="E6EEF5"/>
                </a:solidFill>
                <a:latin typeface="Arial"/>
              </a:rPr>
              <a:t>solicitud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3931920"/>
            <a:ext cx="987552" cy="566928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porque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2" y="3931920"/>
            <a:ext cx="749808" cy="566928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254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1" i="0">
                <a:solidFill>
                  <a:srgbClr val="E6EEF5"/>
                </a:solidFill>
                <a:latin typeface="Arial"/>
              </a:rPr>
              <a:t>ella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0" y="3931920"/>
            <a:ext cx="512064" cy="566928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72984" y="3931920"/>
            <a:ext cx="1106424" cy="566928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cumplía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803136" y="3520440"/>
            <a:ext cx="0" cy="393192"/>
          </a:xfrm>
          <a:prstGeom prst="line">
            <a:avLst/>
          </a:prstGeom>
          <a:ln w="85852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4585716" y="3520440"/>
            <a:ext cx="2217420" cy="0"/>
          </a:xfrm>
          <a:prstGeom prst="line">
            <a:avLst/>
          </a:prstGeom>
          <a:ln w="85852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585716" y="3520440"/>
            <a:ext cx="0" cy="374904"/>
          </a:xfrm>
          <a:prstGeom prst="line">
            <a:avLst/>
          </a:prstGeom>
          <a:ln w="85852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328666" y="319125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0D4FF"/>
                </a:solidFill>
                <a:latin typeface="Arial"/>
              </a:rPr>
              <a:t>72%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6803136" y="3108960"/>
            <a:ext cx="0" cy="804672"/>
          </a:xfrm>
          <a:prstGeom prst="line">
            <a:avLst/>
          </a:prstGeom>
          <a:ln w="20828">
            <a:solidFill>
              <a:srgbClr val="8EA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2665476" y="3108960"/>
            <a:ext cx="4137660" cy="0"/>
          </a:xfrm>
          <a:prstGeom prst="line">
            <a:avLst/>
          </a:prstGeom>
          <a:ln w="20828">
            <a:solidFill>
              <a:srgbClr val="8EA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65476" y="3108960"/>
            <a:ext cx="0" cy="786384"/>
          </a:xfrm>
          <a:prstGeom prst="line">
            <a:avLst/>
          </a:prstGeom>
          <a:ln w="20828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68546" y="277977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8%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803136" y="2697480"/>
            <a:ext cx="0" cy="1216152"/>
          </a:xfrm>
          <a:prstGeom prst="line">
            <a:avLst/>
          </a:prstGeom>
          <a:ln w="22860">
            <a:solidFill>
              <a:srgbClr val="8EA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586484" y="2697480"/>
            <a:ext cx="5216652" cy="0"/>
          </a:xfrm>
          <a:prstGeom prst="line">
            <a:avLst/>
          </a:prstGeom>
          <a:ln w="22860">
            <a:solidFill>
              <a:srgbClr val="8EA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86484" y="2697480"/>
            <a:ext cx="0" cy="1197864"/>
          </a:xfrm>
          <a:prstGeom prst="line">
            <a:avLst/>
          </a:prstGeom>
          <a:ln w="2286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829050" y="2368296"/>
            <a:ext cx="731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10%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1600200"/>
            <a:ext cx="6949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Al procesar “ella”, el modelo asigna más peso a “solicitud” (pesos ilustrativos).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1600200"/>
            <a:ext cx="3749039" cy="4572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092440" y="1737360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00D4FF"/>
                </a:solidFill>
                <a:latin typeface="Arial"/>
              </a:rPr>
              <a:t>CÓMO SE CALCULA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2194560"/>
            <a:ext cx="338328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400" b="1" i="0">
                <a:solidFill>
                  <a:srgbClr val="E6EEF5"/>
                </a:solidFill>
                <a:latin typeface="Arial"/>
              </a:rPr>
              <a:t>Q · consulta: </a:t>
            </a:r>
            <a:r>
              <a:rPr sz="1400" b="0" i="0">
                <a:solidFill>
                  <a:srgbClr val="E6EEF5"/>
                </a:solidFill>
                <a:latin typeface="Arial"/>
              </a:rPr>
              <a:t>¿qué busco?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400" b="1" i="0">
                <a:solidFill>
                  <a:srgbClr val="E6EEF5"/>
                </a:solidFill>
                <a:latin typeface="Arial"/>
              </a:rPr>
              <a:t>K · clave: </a:t>
            </a:r>
            <a:r>
              <a:rPr sz="1400" b="0" i="0">
                <a:solidFill>
                  <a:srgbClr val="E6EEF5"/>
                </a:solidFill>
                <a:latin typeface="Arial"/>
              </a:rPr>
              <a:t>¿qué ofrezco?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400" b="1" i="0">
                <a:solidFill>
                  <a:srgbClr val="E6EEF5"/>
                </a:solidFill>
                <a:latin typeface="Arial"/>
              </a:rPr>
              <a:t>V · valor: </a:t>
            </a:r>
            <a:r>
              <a:rPr sz="1400" b="0" i="0">
                <a:solidFill>
                  <a:srgbClr val="E6EEF5"/>
                </a:solidFill>
                <a:latin typeface="Arial"/>
              </a:rPr>
              <a:t>¿qué información aporto?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977639"/>
            <a:ext cx="3291840" cy="685800"/>
          </a:xfrm>
          <a:prstGeom prst="roundRect">
            <a:avLst>
              <a:gd name="adj" fmla="val 4000"/>
            </a:avLst>
          </a:prstGeom>
          <a:solidFill>
            <a:srgbClr val="0A121A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/>
            <a:r>
              <a:rPr sz="1500" b="0" i="0">
                <a:solidFill>
                  <a:srgbClr val="00E676"/>
                </a:solidFill>
                <a:latin typeface="Courier New"/>
              </a:rPr>
              <a:t>softmax(Q·Kᵀ/√d)·V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80060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Multi-cabeza: varias atenciones en paralelo, cada una especializada en un tipo de relación.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846320"/>
            <a:ext cx="6949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1">
                <a:solidFill>
                  <a:srgbClr val="F5A623"/>
                </a:solidFill>
                <a:latin typeface="Arial"/>
              </a:rPr>
              <a:t>Costo: cada token se compara con todos los demás → el cómputo crece aproximadamente con el cuadrado de la longitud del contexto.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2 · CÓMO FUNCIONA UN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El bloque Transformer, apilado N veces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00200"/>
            <a:ext cx="4389120" cy="59436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905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Entrada: embeddings + posición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203704"/>
            <a:ext cx="0" cy="164592"/>
          </a:xfrm>
          <a:prstGeom prst="line">
            <a:avLst/>
          </a:prstGeom>
          <a:ln w="190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097280" y="2377440"/>
            <a:ext cx="4389120" cy="5943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00D4FF"/>
                </a:solidFill>
                <a:latin typeface="Arial"/>
              </a:rPr>
              <a:t>Auto-atención multi-cabeza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91840" y="2980944"/>
            <a:ext cx="0" cy="164592"/>
          </a:xfrm>
          <a:prstGeom prst="line">
            <a:avLst/>
          </a:prstGeom>
          <a:ln w="190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3154680"/>
            <a:ext cx="4389120" cy="59436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905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 i="0">
                <a:solidFill>
                  <a:srgbClr val="8EA3B5"/>
                </a:solidFill>
                <a:latin typeface="Arial"/>
              </a:rPr>
              <a:t>Suma residual + normalización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91840" y="3758184"/>
            <a:ext cx="0" cy="164592"/>
          </a:xfrm>
          <a:prstGeom prst="line">
            <a:avLst/>
          </a:prstGeom>
          <a:ln w="190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97280" y="3931920"/>
            <a:ext cx="4389120" cy="5943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F5A623"/>
                </a:solidFill>
                <a:latin typeface="Arial"/>
              </a:rPr>
              <a:t>Red feed-forward (MLP)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4535424"/>
            <a:ext cx="0" cy="164592"/>
          </a:xfrm>
          <a:prstGeom prst="line">
            <a:avLst/>
          </a:prstGeom>
          <a:ln w="190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97280" y="4709160"/>
            <a:ext cx="4389120" cy="59436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905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 i="0">
                <a:solidFill>
                  <a:srgbClr val="8EA3B5"/>
                </a:solidFill>
                <a:latin typeface="Arial"/>
              </a:rPr>
              <a:t>Suma residual + normalización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91840" y="5312664"/>
            <a:ext cx="0" cy="164592"/>
          </a:xfrm>
          <a:prstGeom prst="line">
            <a:avLst/>
          </a:prstGeom>
          <a:ln w="190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97280" y="5486400"/>
            <a:ext cx="4389120" cy="59436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905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Salida hacia el siguiente bloque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286000"/>
            <a:ext cx="5029200" cy="301752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5943600" y="347472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800" b="1" i="0">
                <a:solidFill>
                  <a:srgbClr val="E6EEF5"/>
                </a:solidFill>
                <a:latin typeface="Arial"/>
              </a:rPr>
              <a:t>× 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160020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26679" y="1709928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9B7BFF"/>
                </a:solidFill>
                <a:latin typeface="Calibri"/>
              </a:rPr>
              <a:t>32–120+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237744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capas en LLM actuales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315468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26679" y="3264408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Calibri"/>
              </a:rPr>
              <a:t>~16 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393192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pesos de un modelo de 8B en 16 bits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4709160"/>
            <a:ext cx="4114800" cy="13716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26679" y="4818888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0E676"/>
                </a:solidFill>
                <a:latin typeface="Calibri"/>
              </a:rPr>
              <a:t>~2 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5486400"/>
            <a:ext cx="3657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llama3.2:3b cuantizado a 4 bits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2 · CÓMO FUNCIONA UN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Del vector a la palabra: softmax, muestreo y temperatura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63840" y="1600200"/>
            <a:ext cx="3749039" cy="2148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92440" y="18288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01368"/>
            <a:ext cx="2743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Temperatura baja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2423160"/>
            <a:ext cx="333755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Respuestas consistentes. Ideal para extracción, clasificación, SQL y código.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3931920"/>
            <a:ext cx="3749039" cy="2240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092440" y="41605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133087"/>
            <a:ext cx="2743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Temperatura alta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754880"/>
            <a:ext cx="3337559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Más variedad y creatividad… y más riesgo de incoherencias o invenciones.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2 · CÓMO FUNCIONA UN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Parámetros de decodificación: perillas de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74519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1874519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Temperatura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146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Aleatoriedad del muestreo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A3B5"/>
                </a:solidFill>
                <a:latin typeface="Arial"/>
              </a:rPr>
              <a:t>0–0,3 extracción · 0,7 chat · 1+ ideas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45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4526279" y="1874519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874519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Top-p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5146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Solo tokens del “núcleo” con probabilidad acumulada 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200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A3B5"/>
                </a:solidFill>
                <a:latin typeface="Arial"/>
              </a:rPr>
              <a:t>0,9 por defecto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45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275319" y="1874519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399" y="1874519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E676"/>
                </a:solidFill>
                <a:latin typeface="Calibri"/>
              </a:rPr>
              <a:t>Top-k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146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Solo los k tokens más probables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200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A3B5"/>
                </a:solidFill>
                <a:latin typeface="Arial"/>
              </a:rPr>
              <a:t>40 es un valor común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19" y="41605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B7BFF"/>
                </a:solidFill>
                <a:latin typeface="Calibri"/>
              </a:rPr>
              <a:t>Máx. tokens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006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Límite de longitud de la salida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A3B5"/>
                </a:solidFill>
                <a:latin typeface="Arial"/>
              </a:rPr>
              <a:t>Controla costo y latencia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4526279" y="4160520"/>
            <a:ext cx="502920" cy="50292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66359" y="41605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5C7A"/>
                </a:solidFill>
                <a:latin typeface="Calibri"/>
              </a:rPr>
              <a:t>Semilla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48006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Mejora la reproducibilidad (si el proveedor la soporta)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5486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A3B5"/>
                </a:solidFill>
                <a:latin typeface="Arial"/>
              </a:rPr>
              <a:t>Útil en pruebas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275319" y="416052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399" y="416052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Stop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4800600"/>
            <a:ext cx="31089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Cadenas que detienen la generación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548640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8EA3B5"/>
                </a:solidFill>
                <a:latin typeface="Arial"/>
              </a:rPr>
              <a:t>Útil en formatos estructurados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2 · CÓMO FUNCIONA UN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Inferencia: prefill, decode y la ventana de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2194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2926080" cy="822960"/>
          </a:xfrm>
          <a:prstGeom prst="roundRect">
            <a:avLst>
              <a:gd name="adj" fmla="val 8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PREFILL</a:t>
            </a:r>
          </a:p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procesa el prompt completo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331720"/>
            <a:ext cx="914400" cy="82296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 i="0">
                <a:solidFill>
                  <a:srgbClr val="0F1923"/>
                </a:solidFill>
                <a:latin typeface="Arial"/>
              </a:rPr>
              <a:t>token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6048" y="2331720"/>
            <a:ext cx="914400" cy="82296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 i="0">
                <a:solidFill>
                  <a:srgbClr val="0F1923"/>
                </a:solidFill>
                <a:latin typeface="Arial"/>
              </a:rPr>
              <a:t>token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0176" y="2331720"/>
            <a:ext cx="914400" cy="82296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 i="0">
                <a:solidFill>
                  <a:srgbClr val="0F1923"/>
                </a:solidFill>
                <a:latin typeface="Arial"/>
              </a:rPr>
              <a:t>token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04304" y="2331720"/>
            <a:ext cx="914400" cy="82296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 i="0">
                <a:solidFill>
                  <a:srgbClr val="0F1923"/>
                </a:solidFill>
                <a:latin typeface="Arial"/>
              </a:rPr>
              <a:t>token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2331720"/>
            <a:ext cx="914400" cy="82296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 i="0">
                <a:solidFill>
                  <a:srgbClr val="0F1923"/>
                </a:solidFill>
                <a:latin typeface="Arial"/>
              </a:rPr>
              <a:t>token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331720"/>
            <a:ext cx="914400" cy="822960"/>
          </a:xfrm>
          <a:prstGeom prst="roundRect">
            <a:avLst>
              <a:gd name="adj" fmla="val 8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 i="0">
                <a:solidFill>
                  <a:srgbClr val="0F1923"/>
                </a:solidFill>
                <a:latin typeface="Arial"/>
              </a:rPr>
              <a:t>token 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76688" y="2331720"/>
            <a:ext cx="914400" cy="822960"/>
          </a:xfrm>
          <a:prstGeom prst="roundRect">
            <a:avLst>
              <a:gd name="adj" fmla="val 8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1" i="0">
                <a:solidFill>
                  <a:srgbClr val="0F1923"/>
                </a:solidFill>
                <a:latin typeface="Arial"/>
              </a:rPr>
              <a:t>fin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Arial"/>
              </a:rPr>
              <a:t>Paralelo · depende de la entrada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828800"/>
            <a:ext cx="7223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Arial"/>
              </a:rPr>
              <a:t>DECODE · secuencial · un token por pasada · depende de la salida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749039" y="3200400"/>
            <a:ext cx="0" cy="182880"/>
          </a:xfrm>
          <a:prstGeom prst="line">
            <a:avLst/>
          </a:prstGeom>
          <a:ln w="19050">
            <a:solidFill>
              <a:srgbClr val="E6EE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926080" y="338328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Tiempo al primer token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1148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4315968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Tiempo al primer token (TTFT)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Lo que el usuario percibe como “rapidez”. Crece con prompts largos.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41148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26279" y="4315968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Tokens por segundo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Velocidad de generación. Depende del tamaño del modelo y del hardware.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19" y="411480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75319" y="4315968"/>
            <a:ext cx="31089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E676"/>
                </a:solidFill>
                <a:latin typeface="Calibri"/>
              </a:rPr>
              <a:t>Ventana de contexto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Máximo de tokens entrada + salida. De ~8 mil a más de 1 millón según el modelo.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2 · CÓMO FUNCIONA UN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Limitaciones que todo arquitecto debe diseñar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5C7A"/>
                </a:solidFill>
                <a:latin typeface="Calibri"/>
              </a:rPr>
              <a:t>Alucinaciones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Genera lo plausible, no lo verdadero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MITIGACIÓN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  <a:latin typeface="Arial"/>
              </a:rPr>
              <a:t>RAG · citas · validación · humano en el ciclo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1645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526279" y="1828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5A623"/>
                </a:solidFill>
                <a:latin typeface="Calibri"/>
              </a:rPr>
              <a:t>Fecha de corte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30428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Desconoce hechos recientes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2880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MITIGACIÓN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312724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  <a:latin typeface="Arial"/>
              </a:rPr>
              <a:t>Herramientas de búsqueda · 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645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75319" y="1828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D4FF"/>
                </a:solidFill>
                <a:latin typeface="Calibri"/>
              </a:rPr>
              <a:t>No determinismo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30428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Distintas salidas para la misma entrada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880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MITIGACIÓN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312724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  <a:latin typeface="Arial"/>
              </a:rPr>
              <a:t>Temperatura baja · salidas estructuradas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0E676"/>
                </a:solidFill>
                <a:latin typeface="Calibri"/>
              </a:rPr>
              <a:t>Contexto finito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59028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Documentos largos no caben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66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MITIGACIÓN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1324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  <a:latin typeface="Arial"/>
              </a:rPr>
              <a:t>Fragmentación · resúmenes · recuperación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79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26279" y="4114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9B7BFF"/>
                </a:solidFill>
                <a:latin typeface="Calibri"/>
              </a:rPr>
              <a:t>Sesgos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59028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Refleja sesgos de sus datos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79" y="5166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MITIGACIÓN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79" y="541324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  <a:latin typeface="Arial"/>
              </a:rPr>
              <a:t>Evaluación representativa · guardarraíles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19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275319" y="411480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5C7A"/>
                </a:solidFill>
                <a:latin typeface="Calibri"/>
              </a:rPr>
              <a:t>Prompt injection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75319" y="459028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Instrucciones maliciosas en la entrada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19" y="5166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MITIGACIÓN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75319" y="541324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0E676"/>
                </a:solidFill>
                <a:latin typeface="Arial"/>
              </a:rPr>
              <a:t>Separar instrucciones y datos · filtros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00D4FF"/>
                </a:solidFill>
                <a:latin typeface="Calibri"/>
              </a:rPr>
              <a:t>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6EEF5"/>
                </a:solidFill>
                <a:latin typeface="Calibri"/>
              </a:rPr>
              <a:t>Relevancia de los LLM e impacto en la industria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EA3B5"/>
                </a:solidFill>
                <a:latin typeface="Arial"/>
              </a:rPr>
              <a:t>Dónde encajan en la IA · Cambio de paradigma · Casos por sector en LATAM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3 · RELEVANCIA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Dónde encajan los LLM dentro de la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00200"/>
            <a:ext cx="6583680" cy="4572000"/>
          </a:xfrm>
          <a:prstGeom prst="ellipse">
            <a:avLst/>
          </a:prstGeom>
          <a:solidFill>
            <a:srgbClr val="16232F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8EA3B5"/>
                </a:solidFill>
                <a:latin typeface="Arial"/>
              </a:rPr>
              <a:t>Inteligencia artificial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2148840"/>
            <a:ext cx="5669280" cy="3840480"/>
          </a:xfrm>
          <a:prstGeom prst="ellipse">
            <a:avLst/>
          </a:prstGeom>
          <a:solidFill>
            <a:srgbClr val="1D2D3B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5669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8EA3B5"/>
                </a:solidFill>
                <a:latin typeface="Arial"/>
              </a:rPr>
              <a:t>Aprendizaje automático (ML)</a:t>
            </a:r>
          </a:p>
        </p:txBody>
      </p:sp>
      <p:sp>
        <p:nvSpPr>
          <p:cNvPr id="10" name="Oval 9"/>
          <p:cNvSpPr/>
          <p:nvPr/>
        </p:nvSpPr>
        <p:spPr>
          <a:xfrm>
            <a:off x="1463040" y="2697480"/>
            <a:ext cx="4754880" cy="3108960"/>
          </a:xfrm>
          <a:prstGeom prst="ellipse">
            <a:avLst/>
          </a:prstGeom>
          <a:solidFill>
            <a:srgbClr val="16232F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463040" y="2807208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Aprendizaje profundo</a:t>
            </a:r>
          </a:p>
        </p:txBody>
      </p:sp>
      <p:sp>
        <p:nvSpPr>
          <p:cNvPr id="12" name="Oval 11"/>
          <p:cNvSpPr/>
          <p:nvPr/>
        </p:nvSpPr>
        <p:spPr>
          <a:xfrm>
            <a:off x="1920240" y="3246120"/>
            <a:ext cx="3840480" cy="2377440"/>
          </a:xfrm>
          <a:prstGeom prst="ellipse">
            <a:avLst/>
          </a:prstGeom>
          <a:solidFill>
            <a:srgbClr val="1D2D3B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920240" y="335584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  <a:latin typeface="Arial"/>
              </a:rPr>
              <a:t>IA generativa</a:t>
            </a:r>
          </a:p>
        </p:txBody>
      </p:sp>
      <p:sp>
        <p:nvSpPr>
          <p:cNvPr id="14" name="Oval 13"/>
          <p:cNvSpPr/>
          <p:nvPr/>
        </p:nvSpPr>
        <p:spPr>
          <a:xfrm>
            <a:off x="2377440" y="3840480"/>
            <a:ext cx="2926080" cy="15544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377440" y="425196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0F1923"/>
                </a:solidFill>
                <a:latin typeface="Arial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645920"/>
            <a:ext cx="411480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IA clásica: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scoring de crédito, fraude, pronóstico de demanda.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IA generativa: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crea contenido nuevo: texto, imagen, audio, código.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LLM: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IA generativa especializada en lenguaje; hoy también multimodal.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Criterio: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datos tabulares → ML clásico suele ser mejor y más barato; lenguaje no estructurado → LLM.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3 · RELEVANCIA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Modelos fundacionales: un cambio de paradigma para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100">
                <a:solidFill>
                  <a:srgbClr val="FF5C7A"/>
                </a:solidFill>
                <a:latin typeface="Arial"/>
              </a:rPr>
              <a:t>ANTES · un modelo por tarea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774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8EA3B5"/>
                </a:solidFill>
                <a:latin typeface="Arial"/>
              </a:rPr>
              <a:t>Datos etiquetados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715768"/>
            <a:ext cx="274320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237744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Clasificar correos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918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8EA3B5"/>
                </a:solidFill>
                <a:latin typeface="Arial"/>
              </a:rPr>
              <a:t>Datos etiquetados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71800" y="3630168"/>
            <a:ext cx="274320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291840" y="329184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Analizar sentimiento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062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8EA3B5"/>
                </a:solidFill>
                <a:latin typeface="Arial"/>
              </a:rPr>
              <a:t>Datos etiquetados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71800" y="4544568"/>
            <a:ext cx="274320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91840" y="420624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Extraer datos de facturas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12064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8EA3B5"/>
                </a:solidFill>
                <a:latin typeface="Arial"/>
              </a:rPr>
              <a:t>Datos etiquetados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71800" y="5458968"/>
            <a:ext cx="274320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291840" y="5120640"/>
            <a:ext cx="228600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Traducir documentos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83680" y="17830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 spc="100">
                <a:solidFill>
                  <a:srgbClr val="00E676"/>
                </a:solidFill>
                <a:latin typeface="Arial"/>
              </a:rPr>
              <a:t>AHORA · un modelo, muchas tareas</a:t>
            </a:r>
          </a:p>
        </p:txBody>
      </p:sp>
      <p:sp>
        <p:nvSpPr>
          <p:cNvPr id="22" name="Oval 21"/>
          <p:cNvSpPr/>
          <p:nvPr/>
        </p:nvSpPr>
        <p:spPr>
          <a:xfrm>
            <a:off x="6766560" y="3291840"/>
            <a:ext cx="1828800" cy="12801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Modelo</a:t>
            </a:r>
          </a:p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fundacional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8641080" y="2514600"/>
            <a:ext cx="777240" cy="1417320"/>
          </a:xfrm>
          <a:prstGeom prst="line">
            <a:avLst/>
          </a:prstGeom>
          <a:ln w="19050">
            <a:solidFill>
              <a:srgbClr val="00E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64040" y="2240280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Clasificar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8641080" y="3172968"/>
            <a:ext cx="777240" cy="758952"/>
          </a:xfrm>
          <a:prstGeom prst="line">
            <a:avLst/>
          </a:prstGeom>
          <a:ln w="19050">
            <a:solidFill>
              <a:srgbClr val="00E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64040" y="2898648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Resumir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8641080" y="3831336"/>
            <a:ext cx="777240" cy="100584"/>
          </a:xfrm>
          <a:prstGeom prst="line">
            <a:avLst/>
          </a:prstGeom>
          <a:ln w="19050">
            <a:solidFill>
              <a:srgbClr val="00E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464040" y="3557016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Extraer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641080" y="3931920"/>
            <a:ext cx="777240" cy="557784"/>
          </a:xfrm>
          <a:prstGeom prst="line">
            <a:avLst/>
          </a:prstGeom>
          <a:ln w="19050">
            <a:solidFill>
              <a:srgbClr val="00E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464040" y="4215384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Traducir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641080" y="3931920"/>
            <a:ext cx="777240" cy="1216152"/>
          </a:xfrm>
          <a:prstGeom prst="line">
            <a:avLst/>
          </a:prstGeom>
          <a:ln w="19050">
            <a:solidFill>
              <a:srgbClr val="00E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64040" y="4873752"/>
            <a:ext cx="1920240" cy="5486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200" b="0" i="0">
                <a:solidFill>
                  <a:srgbClr val="E6EEF5"/>
                </a:solidFill>
                <a:latin typeface="Arial"/>
              </a:rPr>
              <a:t>Generar código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532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EA3B5"/>
                </a:solidFill>
                <a:latin typeface="Arial"/>
              </a:rPr>
              <a:t>Se adapta con instrucciones, ejemplos, RAG o ajuste fino.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3 · RELEVANCIA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Impacto por sector: patrones de uso en Latinoamérica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74519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Financiero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Atención 24/7 · análisis documental KYC · apoyo a cumplimiento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45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26279" y="187451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847088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Público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4688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PQRS · orientación en trámites · lenguaje claro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45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275319" y="1874519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847088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E676"/>
                </a:solidFill>
                <a:latin typeface="Calibri"/>
              </a:rPr>
              <a:t>Salud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4688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Resumen de historias clínicas · apoyo a codificación CIE-10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33087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B7BFF"/>
                </a:solidFill>
                <a:latin typeface="Calibri"/>
              </a:rPr>
              <a:t>Manufactura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48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Mesa de ayuda · manuales técnicos · reportes de calidad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26279" y="4160520"/>
            <a:ext cx="457200" cy="45720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33087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5C7A"/>
                </a:solidFill>
                <a:latin typeface="Calibri"/>
              </a:rPr>
              <a:t>Educación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7548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Tutores personalizados · retroalimentación de escritura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931920"/>
            <a:ext cx="3520440" cy="2057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275319" y="41605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133087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Comercio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75488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Descripciones de producto · análisis de reseñas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TEMA 3 · RELEVANCIA 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El LLM es un componente; la solución es la arquitectura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984248"/>
            <a:ext cx="0" cy="1764791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6080760" y="2395728"/>
            <a:ext cx="3291840" cy="1353311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6080760" y="3749039"/>
            <a:ext cx="4023360" cy="155449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6080760" y="3749039"/>
            <a:ext cx="3291840" cy="1527049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6080760" y="3749039"/>
            <a:ext cx="0" cy="1984249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788920" y="3749039"/>
            <a:ext cx="3291840" cy="1527049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057400" y="3749039"/>
            <a:ext cx="4023360" cy="155449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788920" y="2395728"/>
            <a:ext cx="3291840" cy="1353311"/>
          </a:xfrm>
          <a:prstGeom prst="line">
            <a:avLst/>
          </a:prstGeom>
          <a:ln w="15875">
            <a:solidFill>
              <a:srgbClr val="2A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37760" y="160020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00D4FF"/>
                </a:solidFill>
                <a:latin typeface="Arial"/>
              </a:rPr>
              <a:t>Calidad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201168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F5A623"/>
                </a:solidFill>
                <a:latin typeface="Arial"/>
              </a:rPr>
              <a:t>Costo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5204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00E676"/>
                </a:solidFill>
                <a:latin typeface="Arial"/>
              </a:rPr>
              <a:t>Latencia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48920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FF5C7A"/>
                </a:solidFill>
                <a:latin typeface="Arial"/>
              </a:rPr>
              <a:t>Seguridad y</a:t>
            </a:r>
          </a:p>
          <a:p>
            <a:pPr algn="ctr"/>
            <a:r>
              <a:rPr sz="1400" b="1" i="0">
                <a:solidFill>
                  <a:srgbClr val="FF5C7A"/>
                </a:solidFill>
                <a:latin typeface="Arial"/>
              </a:rPr>
              <a:t>privacidad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53492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9B7BFF"/>
                </a:solidFill>
                <a:latin typeface="Arial"/>
              </a:rPr>
              <a:t>Disponibilidad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45920" y="48920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00D4FF"/>
                </a:solidFill>
                <a:latin typeface="Arial"/>
              </a:rPr>
              <a:t>Escalabilidad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52044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F5A623"/>
                </a:solidFill>
                <a:latin typeface="Arial"/>
              </a:rPr>
              <a:t>Observabilidad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2011680"/>
            <a:ext cx="2286000" cy="777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00E676"/>
                </a:solidFill>
                <a:latin typeface="Arial"/>
              </a:rPr>
              <a:t>Cumplimiento</a:t>
            </a:r>
          </a:p>
        </p:txBody>
      </p:sp>
      <p:sp>
        <p:nvSpPr>
          <p:cNvPr id="22" name="Oval 21"/>
          <p:cNvSpPr/>
          <p:nvPr/>
        </p:nvSpPr>
        <p:spPr>
          <a:xfrm>
            <a:off x="4709160" y="3063240"/>
            <a:ext cx="2743200" cy="13716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800" b="1" i="0">
                <a:solidFill>
                  <a:srgbClr val="0F1923"/>
                </a:solidFill>
                <a:latin typeface="Arial"/>
              </a:rPr>
              <a:t>Solución</a:t>
            </a:r>
          </a:p>
          <a:p>
            <a:pPr algn="ctr"/>
            <a:r>
              <a:rPr sz="1800" b="1" i="0">
                <a:solidFill>
                  <a:srgbClr val="0F1923"/>
                </a:solidFill>
                <a:latin typeface="Arial"/>
              </a:rPr>
              <a:t>con LLM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Del concepto a la evidencia (30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731520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91640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Anatomía de una llamada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39112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Petición y respuesta HTTP · tokens · prefill vs. decode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32888"/>
            <a:ext cx="731520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31520" y="2715768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78608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Predicción del siguiente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26080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Distribución de probabilidad y temperatura (sin GPU)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19856"/>
            <a:ext cx="731520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31520" y="360273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65576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Tokens, contexto y costo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1304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Español vs. inglés · ventana de contexto · costo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06824"/>
            <a:ext cx="731520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31520" y="448970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352544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Temperatura en un modelo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4700016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Misma pregunta, distintas temperaturas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93792"/>
            <a:ext cx="731520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31520" y="537667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239512"/>
            <a:ext cx="5943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LLM Lab · Playground y Tokens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37360" y="5586983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Streaming · métricas · visualización de tokens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645920"/>
            <a:ext cx="3383280" cy="429768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458200" y="182880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00D4FF"/>
                </a:solidFill>
                <a:latin typeface="Arial"/>
              </a:rPr>
              <a:t>PREPARACIÓN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2286000"/>
            <a:ext cx="29718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Ubuntu 24.04 o WSL2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Python 3.12 y Node 22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Ollama + llama3.2:3b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Repositorio del curso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1" i="0">
                <a:solidFill>
                  <a:srgbClr val="E6EEF5"/>
                </a:solidFill>
                <a:latin typeface="Arial"/>
              </a:rPr>
              <a:t>Plan B: </a:t>
            </a:r>
            <a:r>
              <a:rPr sz="1500" b="0" i="0">
                <a:solidFill>
                  <a:srgbClr val="E6EEF5"/>
                </a:solidFill>
                <a:latin typeface="Arial"/>
              </a:rPr>
              <a:t>Ollama simulado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ENTREGABLE Y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Qué entregar y cómo se evalúa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00D4FF"/>
                </a:solidFill>
                <a:latin typeface="Arial"/>
              </a:rPr>
              <a:t>ENTREGABLE (1–2 PÁGINAS)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148840"/>
            <a:ext cx="4480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Capturas de los labs 01 y 04 con la interpretación de las métricas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337560"/>
            <a:ext cx="4480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Tabla: 3 frases de su organización, tokens en español vs. inglés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61772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526280"/>
            <a:ext cx="44805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Argumento: ¿qué temperatura para extraer datos de facturas y por qué?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64592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100">
                <a:solidFill>
                  <a:srgbClr val="F5A623"/>
                </a:solidFill>
                <a:latin typeface="Arial"/>
              </a:rPr>
              <a:t>CRITERIOS DE EVALUACIÓN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309360" y="2148840"/>
          <a:ext cx="530352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06240"/>
                <a:gridCol w="10972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D4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D4FF"/>
                          </a:solidFill>
                          <a:latin typeface="Arial"/>
                        </a:rPr>
                        <a:t>Peso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Explica la predicción del siguiente token y la atención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Interpreta métricas de su propia ejecución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Relaciona tokens y parámetros con costo y calidad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30 %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Claridad y evidencia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10 %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309360" y="5577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EA3B5"/>
                </a:solidFill>
                <a:latin typeface="Arial"/>
              </a:rPr>
              <a:t>+ Quiz de 10 preguntas con retroalimentación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1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Tres ideas para llevarse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00D4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6EEF5"/>
                </a:solidFill>
                <a:latin typeface="Calibri"/>
              </a:rPr>
              <a:t>Predice, no consulta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65760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EA3B5"/>
                </a:solidFill>
                <a:latin typeface="Arial"/>
              </a:rPr>
              <a:t>Un LLM genera el siguiente token más probable. Hay que diseñar para sus errores.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916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1999" y="187451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F5A623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8346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6EEF5"/>
                </a:solidFill>
                <a:latin typeface="Calibri"/>
              </a:rPr>
              <a:t>Todo se mide en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365760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EA3B5"/>
                </a:solidFill>
                <a:latin typeface="Arial"/>
              </a:rPr>
              <a:t>Costo, latencia y límite de contexto dependen de los tokens de entrada y salida.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91640"/>
            <a:ext cx="3520440" cy="3566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21040" y="1874519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00E676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83464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E6EEF5"/>
                </a:solidFill>
                <a:latin typeface="Calibri"/>
              </a:rPr>
              <a:t>El LLM es un componente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657600"/>
            <a:ext cx="3017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8EA3B5"/>
                </a:solidFill>
                <a:latin typeface="Arial"/>
              </a:rPr>
              <a:t>El valor y el riesgo están en la arquitectura que lo rodea.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Arial"/>
              </a:rPr>
              <a:t>Próxima sesión: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tipos de modelos, nube vs. on-premise, casos LATAM y costos. Traiga un caso de uso de su organización.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00D4FF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6EEF5"/>
                </a:solidFill>
                <a:latin typeface="Calibri"/>
              </a:rPr>
              <a:t>Tipos de modelos y 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EA3B5"/>
                </a:solidFill>
                <a:latin typeface="Arial"/>
              </a:rPr>
              <a:t>Arquitecturas · Nube y on-premise · Casos de uso LATAM · Costos y factores de selección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OBJETIVOS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Al terminar esta sesión usted podrá…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77240" y="17830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Comprender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6002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las arquitecturas decoder-only, encoder-only y encoder-decoder y sus usos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146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777240" y="26974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Comprender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5146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los modelos de despliegue: API, nube gestionada, autohospedado, on-premise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290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777240" y="36118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Analizar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4290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casos de uso de LLM en sectores de LATAM: datos, regulación y costo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4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777240" y="45262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Aplicar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43434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la estimación de costo mensual y el punto de equilibrio de una solución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77240" y="544068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Evaluar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257800"/>
            <a:ext cx="8778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alternativas con una matriz de decisión ponderada y seleccionar la mejor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RETO DE APERTURA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¿Un buscador semántico necesita generar texto?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00D4FF"/>
                </a:solidFill>
                <a:latin typeface="Arial"/>
              </a:rPr>
              <a:t>BUSCAR POR SIGNIFICADO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0" i="0">
                <a:solidFill>
                  <a:srgbClr val="F5A623"/>
                </a:solidFill>
                <a:latin typeface="Arial"/>
              </a:rPr>
              <a:t>“requisitos para un préstamo de vivienda”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6120" y="3154680"/>
            <a:ext cx="0" cy="36576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356616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0" i="0">
                <a:solidFill>
                  <a:srgbClr val="00D4FF"/>
                </a:solidFill>
                <a:latin typeface="Courier New"/>
              </a:rPr>
              <a:t>Encoder → vector [0.12, −0.8, …]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4251960"/>
            <a:ext cx="0" cy="36576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" y="4663440"/>
            <a:ext cx="4846320" cy="109728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Documentos más cercanos:</a:t>
            </a:r>
          </a:p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“Crédito hipotecario: condiciones” · 0,91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37360"/>
            <a:ext cx="5303520" cy="42976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F5A623"/>
                </a:solidFill>
                <a:latin typeface="Arial"/>
              </a:rPr>
              <a:t>LA IDEA DE HOY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68880"/>
            <a:ext cx="475488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E6EEF5"/>
                </a:solidFill>
                <a:latin typeface="Arial"/>
              </a:rPr>
              <a:t>Existen familias de modelos distintas, cada una optimizada para un tipo de tarea.</a:t>
            </a:r>
          </a:p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E6EEF5"/>
                </a:solidFill>
                <a:latin typeface="Arial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900" b="0" i="0">
                <a:solidFill>
                  <a:srgbClr val="E6EEF5"/>
                </a:solidFill>
                <a:latin typeface="Arial"/>
              </a:rPr>
              <a:t>Elegir la familia correcta puede reducir el costo en órdenes de magnitud sin perder calidad.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1 · TIPOS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Todo empieza en el Transformer original: encoder + decoder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4754880" cy="4480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Arial"/>
              </a:rPr>
              <a:t>ENCODER · comprende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42316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Auto-atención bidireccional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91839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Feed-forward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6052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× N capas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12064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0A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F5A623"/>
                </a:solidFill>
                <a:latin typeface="Arial"/>
              </a:rPr>
              <a:t>Entrada: “The bank approved the loan”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0" y="1645920"/>
            <a:ext cx="4754880" cy="4480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178308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Arial"/>
              </a:rPr>
              <a:t>DECODER · genera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242316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Auto-atención causal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3291839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9B7BFF"/>
                </a:solidFill>
                <a:latin typeface="Arial"/>
              </a:rPr>
              <a:t>Atención cruzada al encoder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416052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Feed-forward · × 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0" y="5120640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0A12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300" b="0" i="0">
                <a:solidFill>
                  <a:srgbClr val="F5A623"/>
                </a:solidFill>
                <a:latin typeface="Arial"/>
              </a:rPr>
              <a:t>Salida: “El banco aprobó el…”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83480" y="2770632"/>
            <a:ext cx="2194560" cy="868680"/>
          </a:xfrm>
          <a:prstGeom prst="line">
            <a:avLst/>
          </a:prstGeom>
          <a:ln w="31750">
            <a:solidFill>
              <a:srgbClr val="9B7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57800" y="233172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9B7BFF"/>
                </a:solidFill>
                <a:latin typeface="Arial"/>
              </a:rPr>
              <a:t>contexto de</a:t>
            </a:r>
          </a:p>
          <a:p>
            <a:pPr algn="ctr"/>
            <a:r>
              <a:rPr sz="1200" b="0" i="0">
                <a:solidFill>
                  <a:srgbClr val="9B7BFF"/>
                </a:solidFill>
                <a:latin typeface="Arial"/>
              </a:rPr>
              <a:t>la entrada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4800600"/>
            <a:ext cx="14630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8EA3B5"/>
                </a:solidFill>
                <a:latin typeface="Arial"/>
              </a:rPr>
              <a:t>Transformer</a:t>
            </a:r>
          </a:p>
          <a:p>
            <a:pPr algn="ctr"/>
            <a:r>
              <a:rPr sz="1200" b="0" i="0">
                <a:solidFill>
                  <a:srgbClr val="8EA3B5"/>
                </a:solidFill>
                <a:latin typeface="Arial"/>
              </a:rPr>
              <a:t>(Vaswani et al.,</a:t>
            </a:r>
          </a:p>
          <a:p>
            <a:pPr algn="ctr"/>
            <a:r>
              <a:rPr sz="1200" b="0" i="0">
                <a:solidFill>
                  <a:srgbClr val="8EA3B5"/>
                </a:solidFill>
                <a:latin typeface="Arial"/>
              </a:rPr>
              <a:t>2017)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1 · TIPOS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Las tres familias: qué ve cada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0D4FF"/>
                </a:solidFill>
                <a:latin typeface="Calibri"/>
              </a:rPr>
              <a:t>Encoder-only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08760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819655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2130552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441448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2752344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508760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819655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2130552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441448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2752344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508760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1819655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2130552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2441448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2752344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508760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819655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2130552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2441448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2752344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508760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819655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130552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2441448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2752344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22959" y="40233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ATENCIÓN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" y="4251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Bidireccional: ve toda la frase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" y="47548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PARA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59" y="49834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Arial"/>
              </a:rPr>
              <a:t>Comprender · vector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5440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EA3B5"/>
                </a:solidFill>
                <a:latin typeface="Arial"/>
              </a:rPr>
              <a:t>BERT · modelos de embeddings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79" y="164592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1999" y="1783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F5A623"/>
                </a:solidFill>
                <a:latin typeface="Calibri"/>
              </a:rPr>
              <a:t>Decoder-only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57799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5568695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5879591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190488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6501383" y="2423160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5257799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5568695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5879591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6190488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6501383" y="2734056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5257799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ounded Rectangle 50"/>
          <p:cNvSpPr/>
          <p:nvPr/>
        </p:nvSpPr>
        <p:spPr>
          <a:xfrm>
            <a:off x="5568695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ounded Rectangle 51"/>
          <p:cNvSpPr/>
          <p:nvPr/>
        </p:nvSpPr>
        <p:spPr>
          <a:xfrm>
            <a:off x="5879591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6190488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ounded Rectangle 53"/>
          <p:cNvSpPr/>
          <p:nvPr/>
        </p:nvSpPr>
        <p:spPr>
          <a:xfrm>
            <a:off x="6501383" y="3044952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ounded Rectangle 54"/>
          <p:cNvSpPr/>
          <p:nvPr/>
        </p:nvSpPr>
        <p:spPr>
          <a:xfrm>
            <a:off x="5257799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5568695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5879591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ounded Rectangle 57"/>
          <p:cNvSpPr/>
          <p:nvPr/>
        </p:nvSpPr>
        <p:spPr>
          <a:xfrm>
            <a:off x="6190488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ounded Rectangle 58"/>
          <p:cNvSpPr/>
          <p:nvPr/>
        </p:nvSpPr>
        <p:spPr>
          <a:xfrm>
            <a:off x="6501383" y="3355848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5257799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ounded Rectangle 60"/>
          <p:cNvSpPr/>
          <p:nvPr/>
        </p:nvSpPr>
        <p:spPr>
          <a:xfrm>
            <a:off x="5568695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5879591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ounded Rectangle 62"/>
          <p:cNvSpPr/>
          <p:nvPr/>
        </p:nvSpPr>
        <p:spPr>
          <a:xfrm>
            <a:off x="6190488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ounded Rectangle 63"/>
          <p:cNvSpPr/>
          <p:nvPr/>
        </p:nvSpPr>
        <p:spPr>
          <a:xfrm>
            <a:off x="6501383" y="3666744"/>
            <a:ext cx="274320" cy="274320"/>
          </a:xfrm>
          <a:prstGeom prst="roundRect">
            <a:avLst>
              <a:gd name="adj" fmla="val 1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1999" y="40233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ATENCIÓN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71999" y="4251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Causal: solo ve lo anterior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1999" y="47548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PARA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1999" y="49834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  <a:latin typeface="Arial"/>
              </a:rPr>
              <a:t>Generar · texto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1999" y="5440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EA3B5"/>
                </a:solidFill>
                <a:latin typeface="Arial"/>
              </a:rPr>
              <a:t>GPT · Llama · Gemini · Claude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046719" y="164592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321040" y="178308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00E676"/>
                </a:solidFill>
                <a:latin typeface="Calibri"/>
              </a:rPr>
              <a:t>Encoder-decoder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66759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ounded Rectangle 72"/>
          <p:cNvSpPr/>
          <p:nvPr/>
        </p:nvSpPr>
        <p:spPr>
          <a:xfrm>
            <a:off x="8631935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8897111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ounded Rectangle 74"/>
          <p:cNvSpPr/>
          <p:nvPr/>
        </p:nvSpPr>
        <p:spPr>
          <a:xfrm>
            <a:off x="9162287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9427463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ounded Rectangle 76"/>
          <p:cNvSpPr/>
          <p:nvPr/>
        </p:nvSpPr>
        <p:spPr>
          <a:xfrm>
            <a:off x="8366759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ounded Rectangle 77"/>
          <p:cNvSpPr/>
          <p:nvPr/>
        </p:nvSpPr>
        <p:spPr>
          <a:xfrm>
            <a:off x="8631935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ounded Rectangle 78"/>
          <p:cNvSpPr/>
          <p:nvPr/>
        </p:nvSpPr>
        <p:spPr>
          <a:xfrm>
            <a:off x="8897111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9162287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ounded Rectangle 80"/>
          <p:cNvSpPr/>
          <p:nvPr/>
        </p:nvSpPr>
        <p:spPr>
          <a:xfrm>
            <a:off x="9427463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ounded Rectangle 81"/>
          <p:cNvSpPr/>
          <p:nvPr/>
        </p:nvSpPr>
        <p:spPr>
          <a:xfrm>
            <a:off x="8366759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8631935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ounded Rectangle 83"/>
          <p:cNvSpPr/>
          <p:nvPr/>
        </p:nvSpPr>
        <p:spPr>
          <a:xfrm>
            <a:off x="8897111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ounded Rectangle 84"/>
          <p:cNvSpPr/>
          <p:nvPr/>
        </p:nvSpPr>
        <p:spPr>
          <a:xfrm>
            <a:off x="9162287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9427463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ounded Rectangle 86"/>
          <p:cNvSpPr/>
          <p:nvPr/>
        </p:nvSpPr>
        <p:spPr>
          <a:xfrm>
            <a:off x="8366759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ounded Rectangle 87"/>
          <p:cNvSpPr/>
          <p:nvPr/>
        </p:nvSpPr>
        <p:spPr>
          <a:xfrm>
            <a:off x="8631935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ounded Rectangle 88"/>
          <p:cNvSpPr/>
          <p:nvPr/>
        </p:nvSpPr>
        <p:spPr>
          <a:xfrm>
            <a:off x="8897111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ounded Rectangle 89"/>
          <p:cNvSpPr/>
          <p:nvPr/>
        </p:nvSpPr>
        <p:spPr>
          <a:xfrm>
            <a:off x="9162287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ounded Rectangle 90"/>
          <p:cNvSpPr/>
          <p:nvPr/>
        </p:nvSpPr>
        <p:spPr>
          <a:xfrm>
            <a:off x="9427463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8366759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ounded Rectangle 92"/>
          <p:cNvSpPr/>
          <p:nvPr/>
        </p:nvSpPr>
        <p:spPr>
          <a:xfrm>
            <a:off x="8631935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ounded Rectangle 93"/>
          <p:cNvSpPr/>
          <p:nvPr/>
        </p:nvSpPr>
        <p:spPr>
          <a:xfrm>
            <a:off x="8897111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ounded Rectangle 94"/>
          <p:cNvSpPr/>
          <p:nvPr/>
        </p:nvSpPr>
        <p:spPr>
          <a:xfrm>
            <a:off x="9162287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ounded Rectangle 95"/>
          <p:cNvSpPr/>
          <p:nvPr/>
        </p:nvSpPr>
        <p:spPr>
          <a:xfrm>
            <a:off x="9427463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ounded Rectangle 96"/>
          <p:cNvSpPr/>
          <p:nvPr/>
        </p:nvSpPr>
        <p:spPr>
          <a:xfrm>
            <a:off x="9829799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10094975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ounded Rectangle 98"/>
          <p:cNvSpPr/>
          <p:nvPr/>
        </p:nvSpPr>
        <p:spPr>
          <a:xfrm>
            <a:off x="10360151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ounded Rectangle 99"/>
          <p:cNvSpPr/>
          <p:nvPr/>
        </p:nvSpPr>
        <p:spPr>
          <a:xfrm>
            <a:off x="10625327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ounded Rectangle 100"/>
          <p:cNvSpPr/>
          <p:nvPr/>
        </p:nvSpPr>
        <p:spPr>
          <a:xfrm>
            <a:off x="10890503" y="2423160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ounded Rectangle 101"/>
          <p:cNvSpPr/>
          <p:nvPr/>
        </p:nvSpPr>
        <p:spPr>
          <a:xfrm>
            <a:off x="9829799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ounded Rectangle 102"/>
          <p:cNvSpPr/>
          <p:nvPr/>
        </p:nvSpPr>
        <p:spPr>
          <a:xfrm>
            <a:off x="10094975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ounded Rectangle 103"/>
          <p:cNvSpPr/>
          <p:nvPr/>
        </p:nvSpPr>
        <p:spPr>
          <a:xfrm>
            <a:off x="10360151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ounded Rectangle 104"/>
          <p:cNvSpPr/>
          <p:nvPr/>
        </p:nvSpPr>
        <p:spPr>
          <a:xfrm>
            <a:off x="10625327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ounded Rectangle 105"/>
          <p:cNvSpPr/>
          <p:nvPr/>
        </p:nvSpPr>
        <p:spPr>
          <a:xfrm>
            <a:off x="10890503" y="2688336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ounded Rectangle 106"/>
          <p:cNvSpPr/>
          <p:nvPr/>
        </p:nvSpPr>
        <p:spPr>
          <a:xfrm>
            <a:off x="9829799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ounded Rectangle 107"/>
          <p:cNvSpPr/>
          <p:nvPr/>
        </p:nvSpPr>
        <p:spPr>
          <a:xfrm>
            <a:off x="10094975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ounded Rectangle 108"/>
          <p:cNvSpPr/>
          <p:nvPr/>
        </p:nvSpPr>
        <p:spPr>
          <a:xfrm>
            <a:off x="10360151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ounded Rectangle 109"/>
          <p:cNvSpPr/>
          <p:nvPr/>
        </p:nvSpPr>
        <p:spPr>
          <a:xfrm>
            <a:off x="10625327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ounded Rectangle 110"/>
          <p:cNvSpPr/>
          <p:nvPr/>
        </p:nvSpPr>
        <p:spPr>
          <a:xfrm>
            <a:off x="10890503" y="2953512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ounded Rectangle 111"/>
          <p:cNvSpPr/>
          <p:nvPr/>
        </p:nvSpPr>
        <p:spPr>
          <a:xfrm>
            <a:off x="9829799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ounded Rectangle 112"/>
          <p:cNvSpPr/>
          <p:nvPr/>
        </p:nvSpPr>
        <p:spPr>
          <a:xfrm>
            <a:off x="10094975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ounded Rectangle 113"/>
          <p:cNvSpPr/>
          <p:nvPr/>
        </p:nvSpPr>
        <p:spPr>
          <a:xfrm>
            <a:off x="10360151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ounded Rectangle 114"/>
          <p:cNvSpPr/>
          <p:nvPr/>
        </p:nvSpPr>
        <p:spPr>
          <a:xfrm>
            <a:off x="10625327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ounded Rectangle 115"/>
          <p:cNvSpPr/>
          <p:nvPr/>
        </p:nvSpPr>
        <p:spPr>
          <a:xfrm>
            <a:off x="10890503" y="3218687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ounded Rectangle 116"/>
          <p:cNvSpPr/>
          <p:nvPr/>
        </p:nvSpPr>
        <p:spPr>
          <a:xfrm>
            <a:off x="9829799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ounded Rectangle 117"/>
          <p:cNvSpPr/>
          <p:nvPr/>
        </p:nvSpPr>
        <p:spPr>
          <a:xfrm>
            <a:off x="10094975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ounded Rectangle 118"/>
          <p:cNvSpPr/>
          <p:nvPr/>
        </p:nvSpPr>
        <p:spPr>
          <a:xfrm>
            <a:off x="10360151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ounded Rectangle 119"/>
          <p:cNvSpPr/>
          <p:nvPr/>
        </p:nvSpPr>
        <p:spPr>
          <a:xfrm>
            <a:off x="10625327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ounded Rectangle 120"/>
          <p:cNvSpPr/>
          <p:nvPr/>
        </p:nvSpPr>
        <p:spPr>
          <a:xfrm>
            <a:off x="10890503" y="3483863"/>
            <a:ext cx="228600" cy="228600"/>
          </a:xfrm>
          <a:prstGeom prst="roundRect">
            <a:avLst>
              <a:gd name="adj" fmla="val 1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TextBox 121"/>
          <p:cNvSpPr txBox="1"/>
          <p:nvPr/>
        </p:nvSpPr>
        <p:spPr>
          <a:xfrm>
            <a:off x="8321040" y="40233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ATENCIÓN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321040" y="425196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Encoder completo + decoder causal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21040" y="475488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EA3B5"/>
                </a:solidFill>
                <a:latin typeface="Arial"/>
              </a:rPr>
              <a:t>PARA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21040" y="49834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0E676"/>
                </a:solidFill>
                <a:latin typeface="Arial"/>
              </a:rPr>
              <a:t>Transformar · texto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321040" y="544068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8EA3B5"/>
                </a:solidFill>
                <a:latin typeface="Arial"/>
              </a:rPr>
              <a:t>T5 · BART · Whisper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1 · TIPOS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Encoder-only: modelos que comprenden y representan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48640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Entrenamiento: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adivinar palabras ocultas usando el contexto de ambos lados.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Salida: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un vector (embedding) por texto o por token.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Tamaño típico: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de decenas a cientos de millones de parámetros.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600" b="1" i="0">
                <a:solidFill>
                  <a:srgbClr val="E6EEF5"/>
                </a:solidFill>
                <a:latin typeface="Arial"/>
              </a:rPr>
              <a:t>Despliegue: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corre en CPU; ideal on-premise y en tiempo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937760"/>
            <a:ext cx="5486400" cy="914400"/>
          </a:xfrm>
          <a:prstGeom prst="roundRect">
            <a:avLst>
              <a:gd name="adj" fmla="val 4000"/>
            </a:avLst>
          </a:prstGeom>
          <a:solidFill>
            <a:srgbClr val="0A121A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137160" bIns="137160"/>
          <a:lstStyle/>
          <a:p>
            <a:pPr algn="l"/>
            <a:r>
              <a:rPr sz="1400" b="0" i="0">
                <a:solidFill>
                  <a:srgbClr val="00E676"/>
                </a:solidFill>
                <a:latin typeface="Courier New"/>
              </a:rPr>
              <a:t>El [MASK] aprobó el crédito</a:t>
            </a:r>
          </a:p>
          <a:p>
            <a:pPr algn="l"/>
            <a:r>
              <a:rPr sz="1400" b="0" i="0">
                <a:solidFill>
                  <a:srgbClr val="00E676"/>
                </a:solidFill>
                <a:latin typeface="Courier New"/>
              </a:rPr>
              <a:t>→ predice: banco (0,82) · comité (0,09)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6916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6720840" y="192024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691640"/>
            <a:ext cx="4023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6EEF5"/>
                </a:solidFill>
                <a:latin typeface="Arial"/>
              </a:rPr>
              <a:t>Búsqueda semántica y RAG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78892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6720840" y="301752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2788920"/>
            <a:ext cx="4023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6EEF5"/>
                </a:solidFill>
                <a:latin typeface="Arial"/>
              </a:rPr>
              <a:t>Clasificación de PQRS e intenciones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88620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720840" y="411480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886200"/>
            <a:ext cx="4023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6EEF5"/>
                </a:solidFill>
                <a:latin typeface="Arial"/>
              </a:rPr>
              <a:t>Detección de duplicados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4983479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20840" y="5212079"/>
            <a:ext cx="457200" cy="45720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983479"/>
            <a:ext cx="4023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6EEF5"/>
                </a:solidFill>
                <a:latin typeface="Arial"/>
              </a:rPr>
              <a:t>Anonimización (entidades)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1 · TIPOS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Decoder-only: la familia que domina la IA generativa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0632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74519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Calibri"/>
              </a:rPr>
              <a:t>Objetivo universal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26517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Predecir el siguiente token funciona con cualquier texto, sin etiquetas.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94759" y="1645920"/>
            <a:ext cx="30632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023359" y="187451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847088"/>
            <a:ext cx="20573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Calibri"/>
              </a:rPr>
              <a:t>Todo es “continuar texto”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59" y="2468880"/>
            <a:ext cx="26517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Clasificar, resumir, traducir o programar con una instrucción.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30632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33087"/>
            <a:ext cx="2057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Calibri"/>
              </a:rPr>
              <a:t>Aprendizaje en contexto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26517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Aprende tareas nuevas con ejemplos en el prompt, sin reentrenar.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94759" y="3931920"/>
            <a:ext cx="30632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023359" y="4160520"/>
            <a:ext cx="457200" cy="45720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4133087"/>
            <a:ext cx="20573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9B7BFF"/>
                </a:solidFill>
                <a:latin typeface="Calibri"/>
              </a:rPr>
              <a:t>Escala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59" y="4754880"/>
            <a:ext cx="26517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Las leyes de escala se demostraron sobre todo en esta familia.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1645920"/>
            <a:ext cx="4389120" cy="438912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452360" y="17830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80">
                <a:solidFill>
                  <a:srgbClr val="FF5C7A"/>
                </a:solidFill>
                <a:latin typeface="Arial"/>
              </a:rPr>
              <a:t>LO QUE IMPLICA PARA EL ARQUITECTO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286000"/>
            <a:ext cx="3977639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FF5C7A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Son los modelos más grandes y costosos</a:t>
            </a:r>
          </a:p>
          <a:p>
            <a:pPr marL="256032" indent="-256032">
              <a:spcAft>
                <a:spcPts val="800"/>
              </a:spcAft>
              <a:buClr>
                <a:srgbClr val="FF5C7A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La latencia crece con la longitud de la salida</a:t>
            </a:r>
          </a:p>
          <a:p>
            <a:pPr marL="256032" indent="-256032">
              <a:spcAft>
                <a:spcPts val="800"/>
              </a:spcAft>
              <a:buClr>
                <a:srgbClr val="FF5C7A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Se cobran por tokens de entrada y salida</a:t>
            </a:r>
          </a:p>
          <a:p>
            <a:pPr marL="256032" indent="-256032">
              <a:spcAft>
                <a:spcPts val="800"/>
              </a:spcAft>
              <a:buClr>
                <a:srgbClr val="FF5C7A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Pueden alucinar: requieren guardarraíles</a:t>
            </a:r>
          </a:p>
          <a:p>
            <a:pPr marL="256032" indent="-256032">
              <a:spcAft>
                <a:spcPts val="800"/>
              </a:spcAft>
              <a:buClr>
                <a:srgbClr val="FF5C7A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Muchos ya son multimodales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1 · TIPOS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Encoder-decoder: transformar una secuencia en 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39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254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 i="0">
                <a:solidFill>
                  <a:srgbClr val="F5A623"/>
                </a:solidFill>
                <a:latin typeface="Arial"/>
              </a:rPr>
              <a:t>Audio de una llamada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35808" y="2331720"/>
            <a:ext cx="329184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80" y="182880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 i="0">
                <a:solidFill>
                  <a:srgbClr val="00D4FF"/>
                </a:solidFill>
                <a:latin typeface="Arial"/>
              </a:rPr>
              <a:t>Encoder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70448" y="2331720"/>
            <a:ext cx="329184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17920" y="182880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 i="0">
                <a:solidFill>
                  <a:srgbClr val="00E676"/>
                </a:solidFill>
                <a:latin typeface="Arial"/>
              </a:rPr>
              <a:t>Decoder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05088" y="2331720"/>
            <a:ext cx="329184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052560" y="1828800"/>
            <a:ext cx="2468880" cy="10058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254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 i="0">
                <a:solidFill>
                  <a:srgbClr val="F5A623"/>
                </a:solidFill>
                <a:latin typeface="Arial"/>
              </a:rPr>
              <a:t>Transcripción en texto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1">
                <a:solidFill>
                  <a:srgbClr val="8EA3B5"/>
                </a:solidFill>
                <a:latin typeface="Arial"/>
              </a:rPr>
              <a:t>Ejemplo: Whisper (voz → texto) en un centro de contacto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5760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388620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858768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Calibri"/>
              </a:rPr>
              <a:t>Traducción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80560"/>
            <a:ext cx="21945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Contratos y manuales entre español, portugués e inglés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365760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3593592" y="388620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87952" y="3858768"/>
            <a:ext cx="1600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Calibri"/>
              </a:rPr>
              <a:t>Resumen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93592" y="4480560"/>
            <a:ext cx="21945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Documento largo → resumen ejecutivo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65760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409944" y="388620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04304" y="3858768"/>
            <a:ext cx="1600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E676"/>
                </a:solidFill>
                <a:latin typeface="Calibri"/>
              </a:rPr>
              <a:t>Voz a texto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480560"/>
            <a:ext cx="21945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Transcripción de llamadas y audiencias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97696" y="3657600"/>
            <a:ext cx="2606040" cy="2468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9226296" y="3886200"/>
            <a:ext cx="457200" cy="45720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0656" y="3858768"/>
            <a:ext cx="16001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B7BFF"/>
                </a:solidFill>
                <a:latin typeface="Calibri"/>
              </a:rPr>
              <a:t>Reescritura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4480560"/>
            <a:ext cx="21945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Normas y cartas a lenguaje claro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1 · TIPOS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¿Qué familia usar? Una guía de decisión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40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645920"/>
            <a:ext cx="4114800" cy="82296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E6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 i="0">
                <a:solidFill>
                  <a:srgbClr val="E6EEF5"/>
                </a:solidFill>
                <a:latin typeface="Arial"/>
              </a:rPr>
              <a:t>¿Qué debe producir la solución?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286000" y="2487168"/>
            <a:ext cx="3794760" cy="438912"/>
          </a:xfrm>
          <a:prstGeom prst="line">
            <a:avLst/>
          </a:prstGeom>
          <a:ln w="190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8640" y="2971800"/>
            <a:ext cx="3474720" cy="1188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 i="0">
                <a:solidFill>
                  <a:srgbClr val="E6EEF5"/>
                </a:solidFill>
                <a:latin typeface="Arial"/>
              </a:rPr>
              <a:t>Texto nuevo y libre</a:t>
            </a:r>
          </a:p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Redactar · conversar · razonar · programar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6000" y="4187952"/>
            <a:ext cx="0" cy="338328"/>
          </a:xfrm>
          <a:prstGeom prst="line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05840" y="457200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500" b="1" i="0">
                <a:solidFill>
                  <a:srgbClr val="0F1923"/>
                </a:solidFill>
                <a:latin typeface="Arial"/>
              </a:rPr>
              <a:t>Decoder-only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487168"/>
            <a:ext cx="0" cy="438912"/>
          </a:xfrm>
          <a:prstGeom prst="line">
            <a:avLst/>
          </a:prstGeom>
          <a:ln w="190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2971800"/>
            <a:ext cx="3474720" cy="1188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 i="0">
                <a:solidFill>
                  <a:srgbClr val="E6EEF5"/>
                </a:solidFill>
                <a:latin typeface="Arial"/>
              </a:rPr>
              <a:t>Etiqueta, puntaje o búsqueda</a:t>
            </a:r>
          </a:p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Clasificar · recuperar · agrupar · deduplicar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4187952"/>
            <a:ext cx="0" cy="338328"/>
          </a:xfrm>
          <a:prstGeom prst="line">
            <a:avLst/>
          </a:prstGeom>
          <a:ln w="25400">
            <a:solidFill>
              <a:srgbClr val="00D4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00600" y="457200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500" b="1" i="0">
                <a:solidFill>
                  <a:srgbClr val="0F1923"/>
                </a:solidFill>
                <a:latin typeface="Arial"/>
              </a:rPr>
              <a:t>Encoder-only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2487168"/>
            <a:ext cx="3794760" cy="438912"/>
          </a:xfrm>
          <a:prstGeom prst="line">
            <a:avLst/>
          </a:prstGeom>
          <a:ln w="190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38160" y="2971800"/>
            <a:ext cx="3474720" cy="11887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 i="0">
                <a:solidFill>
                  <a:srgbClr val="E6EEF5"/>
                </a:solidFill>
                <a:latin typeface="Arial"/>
              </a:rPr>
              <a:t>Otra secuencia (tarea fija)</a:t>
            </a:r>
          </a:p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Traducir · transcribir · resumir a escala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75520" y="4187952"/>
            <a:ext cx="0" cy="338328"/>
          </a:xfrm>
          <a:prstGeom prst="line">
            <a:avLst/>
          </a:prstGeom>
          <a:ln w="25400">
            <a:solidFill>
              <a:srgbClr val="00E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595360" y="4572000"/>
            <a:ext cx="2560320" cy="502920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500" b="1" i="0">
                <a:solidFill>
                  <a:srgbClr val="0F1923"/>
                </a:solidFill>
                <a:latin typeface="Arial"/>
              </a:rPr>
              <a:t>Encoder-decoder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6070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Arial"/>
              </a:rPr>
              <a:t>En la práctica se combinan: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un encoder recupera y clasifica; un decoder redacta la respuesta (patrón RAG).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1 · TIPOS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Variantes que conviene reconocer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41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74519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Mezcla de expertos (MoE)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502920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6EEF5"/>
                </a:solidFill>
                <a:latin typeface="Arial"/>
              </a:rPr>
              <a:t>Muchos expertos, solo algunos activos por token: gran capacidad con menor costo de inferencia.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64592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00800" y="187451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847088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Modelos pequeños (SLM)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502920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6EEF5"/>
                </a:solidFill>
                <a:latin typeface="Arial"/>
              </a:rPr>
              <a:t>1–10 mil millones de parámetros. Corren en laptops o en el borde; ideales para tareas acotadas.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93192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33087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E676"/>
                </a:solidFill>
                <a:latin typeface="Calibri"/>
              </a:rPr>
              <a:t>Multimodales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4880"/>
            <a:ext cx="502920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6EEF5"/>
                </a:solidFill>
                <a:latin typeface="Arial"/>
              </a:rPr>
              <a:t>Entienden imágenes, audio o video: facturas escaneadas, formularios, fotos de inspección.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93192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00800" y="4160520"/>
            <a:ext cx="457200" cy="45720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4133087"/>
            <a:ext cx="4434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B7BFF"/>
                </a:solidFill>
                <a:latin typeface="Calibri"/>
              </a:rPr>
              <a:t>Modelos de razonamiento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754880"/>
            <a:ext cx="502920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E6EEF5"/>
                </a:solidFill>
                <a:latin typeface="Arial"/>
              </a:rPr>
              <a:t>“Piensan” en pasos antes de responder: más calidad en problemas complejos, más tokens y latencia.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1 · TIPOS DE MODELOS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Encoder + decoder juntos: anticipo del patrón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42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645920" cy="128016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254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F5A623"/>
                </a:solidFill>
                <a:latin typeface="Arial"/>
              </a:rPr>
              <a:t>Manuales</a:t>
            </a:r>
          </a:p>
          <a:p>
            <a:pPr algn="ctr"/>
            <a:r>
              <a:rPr sz="1400" b="1" i="0">
                <a:solidFill>
                  <a:srgbClr val="F5A623"/>
                </a:solidFill>
                <a:latin typeface="Arial"/>
              </a:rPr>
              <a:t>de TechCorp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12848" y="2743200"/>
            <a:ext cx="210312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41448" y="2103120"/>
            <a:ext cx="1645920" cy="1280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00D4FF"/>
                </a:solidFill>
                <a:latin typeface="Arial"/>
              </a:rPr>
              <a:t>Encoder</a:t>
            </a:r>
          </a:p>
          <a:p>
            <a:pPr algn="ctr"/>
            <a:r>
              <a:rPr sz="1400" b="1" i="0">
                <a:solidFill>
                  <a:srgbClr val="00D4FF"/>
                </a:solidFill>
                <a:latin typeface="Arial"/>
              </a:rPr>
              <a:t>(embeddings)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05656" y="2743200"/>
            <a:ext cx="210312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34255" y="2103120"/>
            <a:ext cx="1645920" cy="128016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25400">
            <a:solidFill>
              <a:srgbClr val="8EA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8EA3B5"/>
                </a:solidFill>
                <a:latin typeface="Arial"/>
              </a:rPr>
              <a:t>Base vectorial</a:t>
            </a:r>
          </a:p>
          <a:p>
            <a:pPr algn="ctr"/>
            <a:r>
              <a:rPr sz="1400" b="1" i="0">
                <a:solidFill>
                  <a:srgbClr val="8EA3B5"/>
                </a:solidFill>
                <a:latin typeface="Arial"/>
              </a:rPr>
              <a:t>(pgvector)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98464" y="2743200"/>
            <a:ext cx="210311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27063" y="2103120"/>
            <a:ext cx="1645920" cy="1280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00D4FF"/>
                </a:solidFill>
                <a:latin typeface="Arial"/>
              </a:rPr>
              <a:t>Fragmentos</a:t>
            </a:r>
          </a:p>
          <a:p>
            <a:pPr algn="ctr"/>
            <a:r>
              <a:rPr sz="1400" b="1" i="0">
                <a:solidFill>
                  <a:srgbClr val="00D4FF"/>
                </a:solidFill>
                <a:latin typeface="Arial"/>
              </a:rPr>
              <a:t>relevantes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91271" y="2743200"/>
            <a:ext cx="210312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19871" y="2103120"/>
            <a:ext cx="1645920" cy="1280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F5A623"/>
                </a:solidFill>
                <a:latin typeface="Arial"/>
              </a:rPr>
              <a:t>Decoder</a:t>
            </a:r>
          </a:p>
          <a:p>
            <a:pPr algn="ctr"/>
            <a:r>
              <a:rPr sz="1400" b="1" i="0">
                <a:solidFill>
                  <a:srgbClr val="F5A623"/>
                </a:solidFill>
                <a:latin typeface="Arial"/>
              </a:rPr>
              <a:t>(LLM)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784080" y="2743200"/>
            <a:ext cx="210312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12680" y="2103120"/>
            <a:ext cx="1645920" cy="128016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2540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1" i="0">
                <a:solidFill>
                  <a:srgbClr val="00E676"/>
                </a:solidFill>
                <a:latin typeface="Arial"/>
              </a:rPr>
              <a:t>Respuesta</a:t>
            </a:r>
          </a:p>
          <a:p>
            <a:pPr algn="ctr"/>
            <a:r>
              <a:rPr sz="1400" b="1" i="0">
                <a:solidFill>
                  <a:srgbClr val="00E676"/>
                </a:solidFill>
                <a:latin typeface="Arial"/>
              </a:rPr>
              <a:t>con citas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291840" cy="731520"/>
          </a:xfrm>
          <a:prstGeom prst="roundRect">
            <a:avLst>
              <a:gd name="adj" fmla="val 8000"/>
            </a:avLst>
          </a:prstGeom>
          <a:solidFill>
            <a:srgbClr val="0A121A"/>
          </a:solidFill>
          <a:ln w="12700">
            <a:solidFill>
              <a:srgbClr val="2A3E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400" b="0" i="0">
                <a:solidFill>
                  <a:srgbClr val="E6EEF5"/>
                </a:solidFill>
                <a:latin typeface="Arial"/>
              </a:rPr>
              <a:t>Pregunta del colaborador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5989320" y="3429000"/>
            <a:ext cx="0" cy="484632"/>
          </a:xfrm>
          <a:prstGeom prst="line">
            <a:avLst/>
          </a:prstGeom>
          <a:ln w="1905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5029200"/>
            <a:ext cx="11064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0" i="0">
                <a:solidFill>
                  <a:srgbClr val="E6EEF5"/>
                </a:solidFill>
                <a:latin typeface="Arial"/>
              </a:rPr>
              <a:t>El encoder encuentra la información; el decoder la explica. Así se reducen las alucinaciones y se usa conocimiento propio y actualizado sin reentrenar el modelo.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00D4FF"/>
                </a:solidFill>
                <a:latin typeface="Calibri"/>
              </a:rPr>
              <a:t>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6EEF5"/>
                </a:solidFill>
                <a:latin typeface="Calibri"/>
              </a:rPr>
              <a:t>Servicios en la nube y on-premise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EA3B5"/>
                </a:solidFill>
                <a:latin typeface="Arial"/>
              </a:rPr>
              <a:t>Espectro de despliegue · Pesos abiertos vs. cerrados · Arquitecturas híbridas · Interoperabilidad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2 · SERVICIOS EN LA NUBE Y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El espectro de despliegue: conveniencia vs.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44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1920240"/>
            <a:ext cx="10698480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731520" y="1920240"/>
            <a:ext cx="10698480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Arial"/>
              </a:rPr>
              <a:t>Más conveniencia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5087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 i="0">
                <a:solidFill>
                  <a:srgbClr val="9B7BFF"/>
                </a:solidFill>
                <a:latin typeface="Arial"/>
              </a:rPr>
              <a:t>Más control y soberanía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2606040" cy="37947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1554480" y="2514600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0D4FF"/>
                </a:solidFill>
                <a:latin typeface="Calibri"/>
              </a:rPr>
              <a:t>API del fabricante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862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OpenAI · Anthropic</a:t>
            </a:r>
          </a:p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Gemini 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2331720"/>
            <a:ext cx="2606040" cy="37947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370832" y="2514600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20040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F5A623"/>
                </a:solidFill>
                <a:latin typeface="Calibri"/>
              </a:rPr>
              <a:t>Nube gestionada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8862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Azure AI Foundry · AWS</a:t>
            </a:r>
          </a:p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Bedrock · Agent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2331720"/>
            <a:ext cx="2606040" cy="37947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187183" y="2514600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20040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00E676"/>
                </a:solidFill>
                <a:latin typeface="Calibri"/>
              </a:rPr>
              <a:t>Autohospedado en nube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38862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vLLM · TGI en GPU</a:t>
            </a:r>
          </a:p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o Kubernetes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2331720"/>
            <a:ext cx="2606040" cy="37947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10003536" y="2514600"/>
            <a:ext cx="548640" cy="54864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00" b="1" i="0">
                <a:solidFill>
                  <a:srgbClr val="0F1923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0576" y="3200400"/>
            <a:ext cx="2240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 i="0">
                <a:solidFill>
                  <a:srgbClr val="9B7BFF"/>
                </a:solidFill>
                <a:latin typeface="Calibri"/>
              </a:rPr>
              <a:t>On-premise / borde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3886200"/>
            <a:ext cx="2240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Ollama · llama.cpp</a:t>
            </a:r>
          </a:p>
          <a:p>
            <a:pPr algn="ctr"/>
            <a:r>
              <a:rPr sz="1300" b="0" i="0">
                <a:solidFill>
                  <a:srgbClr val="8EA3B5"/>
                </a:solidFill>
                <a:latin typeface="Arial"/>
              </a:rPr>
              <a:t>vLLM en servidores propios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75488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Cero infraestructura · pago por uso · modelos de frontera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47872" y="475488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Contrato empresarial · red privada · IAM ·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4224" y="475488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Control del modelo y de los datos en su nube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4754880"/>
            <a:ext cx="2240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E6EEF5"/>
                </a:solidFill>
                <a:latin typeface="Arial"/>
              </a:rPr>
              <a:t>Máxima soberanía · sin costo por token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2 · SERVICIOS EN LA NUBE Y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Pesos abiertos vs. cerrados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84048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D4FF"/>
                </a:solidFill>
                <a:latin typeface="Calibri"/>
              </a:rPr>
              <a:t>Cerrados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Solo por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88920"/>
            <a:ext cx="3383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Suelen liderar en capacidades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El proveedor opera todo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Dependencia del proveedor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Versiones fuera de su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534924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0D4FF"/>
                </a:solidFill>
                <a:latin typeface="Arial"/>
              </a:rPr>
              <a:t>GPT · Claude · Gemini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645920"/>
            <a:ext cx="384048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00E676"/>
                </a:solidFill>
                <a:latin typeface="Calibri"/>
              </a:rPr>
              <a:t>Pesos abiertos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2860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Se descargan y ejecutan donde quiera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788920"/>
            <a:ext cx="33832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Control y privacidad</a:t>
            </a:r>
          </a:p>
          <a:p>
            <a:pPr marL="256032" indent="-256032">
              <a:spcAft>
                <a:spcPts val="8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Ajuste fino con datos propios</a:t>
            </a:r>
          </a:p>
          <a:p>
            <a:pPr marL="256032" indent="-256032">
              <a:spcAft>
                <a:spcPts val="8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Usted opera la infraestructura</a:t>
            </a:r>
          </a:p>
          <a:p>
            <a:pPr marL="256032" indent="-256032">
              <a:spcAft>
                <a:spcPts val="8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Los más capaces requieren GPU costosas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534924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00E676"/>
                </a:solidFill>
                <a:latin typeface="Arial"/>
              </a:rPr>
              <a:t>Llama · Mistral · Gemma · Qwen · DeepSeek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1645920"/>
            <a:ext cx="2926080" cy="452628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9050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15400" y="1828800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5C7A"/>
                </a:solidFill>
                <a:latin typeface="Calibri"/>
              </a:rPr>
              <a:t>¡Ojo con la licencia!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15400" y="2377440"/>
            <a:ext cx="25146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“Abierto” no significa “libre para cualquier uso”.</a:t>
            </a:r>
          </a:p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/>
            </a:r>
          </a:p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Algunas licencias restringen el uso comercial, el número de usuarios o ciertos casos de uso.</a:t>
            </a:r>
          </a:p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/>
            </a:r>
          </a:p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Revisión legal antes de producción.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2 · SERVICIOS EN LA NUBE Y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Nube gestionada vs. on-premise: comparación por criterio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39" cy="4480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4206240"/>
                <a:gridCol w="3749039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Arial"/>
                        </a:rPr>
                        <a:t>Nube gestionada (API / hiperescalador)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D4FF"/>
                          </a:solidFill>
                          <a:latin typeface="Arial"/>
                        </a:rPr>
                        <a:t>On-premise / autohospedado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5A623"/>
                          </a:solidFill>
                          <a:latin typeface="Arial"/>
                        </a:rPr>
                        <a:t>Tiempo de salida al mercado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Días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Semanas a meses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5A623"/>
                          </a:solidFill>
                          <a:latin typeface="Arial"/>
                        </a:rPr>
                        <a:t>Soberanía de datos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Media–alta (región, red privada, contrato)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Máxima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5A623"/>
                          </a:solidFill>
                          <a:latin typeface="Arial"/>
                        </a:rPr>
                        <a:t>Modelo de costo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Variable: pago por token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Fijo: hardware + operación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5A623"/>
                          </a:solidFill>
                          <a:latin typeface="Arial"/>
                        </a:rPr>
                        <a:t>Escalabilidad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Casi ilimitada y elástica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Limitada por el hardware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5A623"/>
                          </a:solidFill>
                          <a:latin typeface="Arial"/>
                        </a:rPr>
                        <a:t>Acceso a modelos de frontera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Sí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Solo pesos abiertos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5A623"/>
                          </a:solidFill>
                          <a:latin typeface="Arial"/>
                        </a:rPr>
                        <a:t>Operación requerida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Baja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Alta (MLOps, GPU, seguridad)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5A623"/>
                          </a:solidFill>
                          <a:latin typeface="Arial"/>
                        </a:rPr>
                        <a:t>Latencia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Depende de la red y la región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E6EEF5"/>
                          </a:solidFill>
                          <a:latin typeface="Arial"/>
                        </a:rPr>
                        <a:t>Baja en la red local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2 · SERVICIOS EN LA NUBE Y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Arquitectura híbrida: un gateway que enruta según el caso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47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971800"/>
            <a:ext cx="2103120" cy="118872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E6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Aplicaciones</a:t>
            </a:r>
          </a:p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de TechCorp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2011680"/>
            <a:ext cx="3108960" cy="31089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74720" y="21488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00D4FF"/>
                </a:solidFill>
                <a:latin typeface="Calibri"/>
              </a:rPr>
              <a:t>Gateway de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697480"/>
            <a:ext cx="26974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Enrutamiento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Enmascarar datos personales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Cuotas y costos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Registro y auditoría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Conmutación por falla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0048" y="3566160"/>
            <a:ext cx="548640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400800" y="2194560"/>
            <a:ext cx="685800" cy="1371600"/>
          </a:xfrm>
          <a:prstGeom prst="line">
            <a:avLst/>
          </a:prstGeom>
          <a:ln w="25400">
            <a:solidFill>
              <a:srgbClr val="9B7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132320" y="1691640"/>
            <a:ext cx="4480560" cy="1097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600" b="1" i="0">
                <a:solidFill>
                  <a:srgbClr val="9B7BFF"/>
                </a:solidFill>
                <a:latin typeface="Arial"/>
              </a:rPr>
              <a:t>Modelo on-premise</a:t>
            </a:r>
          </a:p>
          <a:p>
            <a:pPr algn="l"/>
            <a:r>
              <a:rPr sz="1300" b="0" i="0">
                <a:solidFill>
                  <a:srgbClr val="E6EEF5"/>
                </a:solidFill>
                <a:latin typeface="Arial"/>
              </a:rPr>
              <a:t>Datos sensibles y secretos industriales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3566160"/>
            <a:ext cx="685800" cy="137160"/>
          </a:xfrm>
          <a:prstGeom prst="line">
            <a:avLst/>
          </a:prstGeom>
          <a:ln w="25400">
            <a:solidFill>
              <a:srgbClr val="00E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132320" y="3200400"/>
            <a:ext cx="4480560" cy="1097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600" b="1" i="0">
                <a:solidFill>
                  <a:srgbClr val="00E676"/>
                </a:solidFill>
                <a:latin typeface="Arial"/>
              </a:rPr>
              <a:t>API económica en la nube</a:t>
            </a:r>
          </a:p>
          <a:p>
            <a:pPr algn="l"/>
            <a:r>
              <a:rPr sz="1300" b="0" i="0">
                <a:solidFill>
                  <a:srgbClr val="E6EEF5"/>
                </a:solidFill>
                <a:latin typeface="Arial"/>
              </a:rPr>
              <a:t>Consultas generales de alto volumen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3566160"/>
            <a:ext cx="685800" cy="1645920"/>
          </a:xfrm>
          <a:prstGeom prst="line">
            <a:avLst/>
          </a:prstGeom>
          <a:ln w="25400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4709160"/>
            <a:ext cx="4480560" cy="1097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600" b="1" i="0">
                <a:solidFill>
                  <a:srgbClr val="F5A623"/>
                </a:solidFill>
                <a:latin typeface="Arial"/>
              </a:rPr>
              <a:t>Modelo de frontera</a:t>
            </a:r>
          </a:p>
          <a:p>
            <a:pPr algn="l"/>
            <a:r>
              <a:rPr sz="1300" b="0" i="0">
                <a:solidFill>
                  <a:srgbClr val="E6EEF5"/>
                </a:solidFill>
                <a:latin typeface="Arial"/>
              </a:rPr>
              <a:t>Análisis complejos, bajo volumen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2 · SERVICIOS EN LA NUBE Y ON-PREMISE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Interoperabilidad: una interfaz propia, varios proveedores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48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651760"/>
            <a:ext cx="2468880" cy="146304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 w="12700">
            <a:solidFill>
              <a:srgbClr val="E6EE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600" b="1" i="0">
                <a:solidFill>
                  <a:srgbClr val="E6EEF5"/>
                </a:solidFill>
                <a:latin typeface="Arial"/>
              </a:rPr>
              <a:t>Lógica de</a:t>
            </a:r>
          </a:p>
          <a:p>
            <a:pPr algn="ctr"/>
            <a:r>
              <a:rPr sz="1600" b="1" i="0">
                <a:solidFill>
                  <a:srgbClr val="E6EEF5"/>
                </a:solidFill>
                <a:latin typeface="Arial"/>
              </a:rPr>
              <a:t>negocio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35808" y="3383280"/>
            <a:ext cx="530352" cy="0"/>
          </a:xfrm>
          <a:prstGeom prst="line">
            <a:avLst/>
          </a:prstGeom>
          <a:ln w="25400">
            <a:solidFill>
              <a:srgbClr val="8EA3B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11880" y="2286000"/>
            <a:ext cx="2651760" cy="2194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700" b="1" i="0">
                <a:solidFill>
                  <a:srgbClr val="00D4FF"/>
                </a:solidFill>
                <a:latin typeface="Arial"/>
              </a:rPr>
              <a:t>Interfaz propia</a:t>
            </a:r>
          </a:p>
          <a:p>
            <a:pPr algn="ctr"/>
            <a:r>
              <a:rPr sz="1400" b="0" i="0">
                <a:solidFill>
                  <a:srgbClr val="00E676"/>
                </a:solidFill>
                <a:latin typeface="Courier New"/>
              </a:rPr>
              <a:t>LLMProvider</a:t>
            </a:r>
          </a:p>
          <a:p>
            <a:pPr algn="ctr"/>
            <a:r>
              <a:rPr sz="1200" b="0" i="0">
                <a:solidFill>
                  <a:srgbClr val="8EA3B5"/>
                </a:solidFill>
                <a:latin typeface="Courier New"/>
              </a:rPr>
              <a:t>generate() · stream()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291072" y="2148840"/>
            <a:ext cx="521208" cy="1234440"/>
          </a:xfrm>
          <a:prstGeom prst="line">
            <a:avLst/>
          </a:prstGeom>
          <a:ln w="22225">
            <a:solidFill>
              <a:srgbClr val="9B7B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0" y="1645920"/>
            <a:ext cx="4754880" cy="1005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500" b="1" i="0">
                <a:solidFill>
                  <a:srgbClr val="9B7BFF"/>
                </a:solidFill>
                <a:latin typeface="Arial"/>
              </a:rPr>
              <a:t>Adaptador Ollama</a:t>
            </a:r>
          </a:p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local · on-premise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91072" y="3383280"/>
            <a:ext cx="521208" cy="45720"/>
          </a:xfrm>
          <a:prstGeom prst="line">
            <a:avLst/>
          </a:prstGeom>
          <a:ln w="22225">
            <a:solidFill>
              <a:srgbClr val="F5A62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858000" y="2926080"/>
            <a:ext cx="4754880" cy="1005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500" b="1" i="0">
                <a:solidFill>
                  <a:srgbClr val="F5A623"/>
                </a:solidFill>
                <a:latin typeface="Arial"/>
              </a:rPr>
              <a:t>Adaptador Gemini</a:t>
            </a:r>
          </a:p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Agent Platform / Gemini API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91072" y="3383280"/>
            <a:ext cx="521208" cy="1325879"/>
          </a:xfrm>
          <a:prstGeom prst="line">
            <a:avLst/>
          </a:prstGeom>
          <a:ln w="22225">
            <a:solidFill>
              <a:srgbClr val="00E67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58000" y="4206240"/>
            <a:ext cx="4754880" cy="1005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9050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l"/>
            <a:r>
              <a:rPr sz="1500" b="1" i="0">
                <a:solidFill>
                  <a:srgbClr val="00E676"/>
                </a:solidFill>
                <a:latin typeface="Arial"/>
              </a:rPr>
              <a:t>Adaptador “compatible OpenAI”</a:t>
            </a:r>
          </a:p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OpenAI · Groq · vLLM · Azure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F5A623"/>
                </a:solidFill>
                <a:latin typeface="Arial"/>
              </a:rPr>
              <a:t>Cambiar de proveedor = cambiar configuración, no reescribir el negocio. (Ver backend/app/providers en el repositorio.)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00D4FF"/>
                </a:solidFill>
                <a:latin typeface="Calibri"/>
              </a:rPr>
              <a:t>2.3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6EEF5"/>
                </a:solidFill>
                <a:latin typeface="Calibri"/>
              </a:rPr>
              <a:t>Casos de uso en Latinoamérica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EA3B5"/>
                </a:solidFill>
                <a:latin typeface="Arial"/>
              </a:rPr>
              <a:t>Sector público · Sector financiero · Salud · Regulación y residencia de datos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3 · CASOS DE USO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Sector público: casos, arquitectura sugerida y consideraciones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949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EEF5"/>
                </a:solidFill>
                <a:latin typeface="Calibri"/>
              </a:rPr>
              <a:t>PQRS ciudadanas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9456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Clasificar y enrutar solicitudes a la dependencia correcta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194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00D4FF"/>
                </a:solidFill>
                <a:latin typeface="Arial"/>
              </a:rPr>
              <a:t>Encoder + decoder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6949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9184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EEF5"/>
                </a:solidFill>
                <a:latin typeface="Calibri"/>
              </a:rPr>
              <a:t>Orientación en trámites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Asistente sobre requisitos, costos y pasos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7033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00D4FF"/>
                </a:solidFill>
                <a:latin typeface="Arial"/>
              </a:rPr>
              <a:t>Decoder + RAG sobre normativa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6949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006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EEF5"/>
                </a:solidFill>
                <a:latin typeface="Calibri"/>
              </a:rPr>
              <a:t>Lenguaje claro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212079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Reescribir actos administrativos para la ciudadanía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521207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00D4FF"/>
                </a:solidFill>
                <a:latin typeface="Arial"/>
              </a:rPr>
              <a:t>Decoder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4592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00D4FF"/>
                </a:solidFill>
                <a:latin typeface="Arial"/>
              </a:rPr>
              <a:t>CONSIDERACIONES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286000"/>
            <a:ext cx="33375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Transparencia y trazabilidad de las decisiones</a:t>
            </a:r>
          </a:p>
          <a:p>
            <a:pPr marL="256032" indent="-256032">
              <a:spcAft>
                <a:spcPts val="14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Accesibilidad e inclusión (lenguas y regiones)</a:t>
            </a:r>
          </a:p>
          <a:p>
            <a:pPr marL="256032" indent="-256032">
              <a:spcAft>
                <a:spcPts val="14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Presupuesto público: priorizar costo por solicitud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3 · CASOS DE USO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Sector financiero: casos, arquitectura sugerida y consideraciones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51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949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EEF5"/>
                </a:solidFill>
                <a:latin typeface="Calibri"/>
              </a:rPr>
              <a:t>Atención al 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9456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Asistente 24/7 sobre productos y trámites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194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F5A623"/>
                </a:solidFill>
                <a:latin typeface="Arial"/>
              </a:rPr>
              <a:t>Decoder en nube gestionada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6949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9184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EEF5"/>
                </a:solidFill>
                <a:latin typeface="Calibri"/>
              </a:rPr>
              <a:t>Análisis documental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Extraer datos de documentos para conocimiento del cliente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7033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F5A623"/>
                </a:solidFill>
                <a:latin typeface="Arial"/>
              </a:rPr>
              <a:t>Decoder multimodal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6949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006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EEF5"/>
                </a:solidFill>
                <a:latin typeface="Calibri"/>
              </a:rPr>
              <a:t>Apoyo a cumplimiento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212079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Resumir alertas y expedientes para analistas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521207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F5A623"/>
                </a:solidFill>
                <a:latin typeface="Arial"/>
              </a:rPr>
              <a:t>Decoder +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4592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F5A623"/>
                </a:solidFill>
                <a:latin typeface="Arial"/>
              </a:rPr>
              <a:t>CONSIDERACIONES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286000"/>
            <a:ext cx="33375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F5A623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Datos personales y secreto bancario</a:t>
            </a:r>
          </a:p>
          <a:p>
            <a:pPr marL="256032" indent="-256032">
              <a:spcAft>
                <a:spcPts val="1400"/>
              </a:spcAft>
              <a:buClr>
                <a:srgbClr val="F5A623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Supervisión financiera: auditoría y explicabilidad</a:t>
            </a:r>
          </a:p>
          <a:p>
            <a:pPr marL="256032" indent="-256032">
              <a:spcAft>
                <a:spcPts val="1400"/>
              </a:spcAft>
              <a:buClr>
                <a:srgbClr val="F5A623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Humano en el ciclo para decisiones de crédito o fraude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3 · CASOS DE USO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Salud: casos, arquitectura sugerida y consideraciones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52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949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8308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EEF5"/>
                </a:solidFill>
                <a:latin typeface="Calibri"/>
              </a:rPr>
              <a:t>Resumen clínico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9456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Resumir historias clínicas extensas para el profesional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21945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00E676"/>
                </a:solidFill>
                <a:latin typeface="Arial"/>
              </a:rPr>
              <a:t>Decoder en entorno privado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154680"/>
            <a:ext cx="6949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29184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EEF5"/>
                </a:solidFill>
                <a:latin typeface="Calibri"/>
              </a:rPr>
              <a:t>Apoyo a codificación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Sugerir códigos CIE-10 para validación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370332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00E676"/>
                </a:solidFill>
                <a:latin typeface="Arial"/>
              </a:rPr>
              <a:t>Encoder + decoder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63440"/>
            <a:ext cx="6949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777240" y="5074920"/>
            <a:ext cx="502920" cy="50292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800600"/>
            <a:ext cx="5760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E6EEF5"/>
                </a:solidFill>
                <a:latin typeface="Calibri"/>
              </a:rPr>
              <a:t>Gestión y educación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212079"/>
            <a:ext cx="3657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EA3B5"/>
                </a:solidFill>
                <a:latin typeface="Arial"/>
              </a:rPr>
              <a:t>Citas, recordatorios y material para pacientes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49240" y="5212079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100" b="1" i="0">
                <a:solidFill>
                  <a:srgbClr val="00E676"/>
                </a:solidFill>
                <a:latin typeface="Arial"/>
              </a:rPr>
              <a:t>Decoder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63840" y="1645920"/>
            <a:ext cx="3749039" cy="452628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92440" y="1828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00E676"/>
                </a:solidFill>
                <a:latin typeface="Arial"/>
              </a:rPr>
              <a:t>CONSIDERACIONES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2286000"/>
            <a:ext cx="333756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14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Datos sensibles: consentimiento, anonimización, residencia</a:t>
            </a:r>
          </a:p>
          <a:p>
            <a:pPr marL="256032" indent="-256032">
              <a:spcAft>
                <a:spcPts val="14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Validación clínica obligatoria</a:t>
            </a:r>
          </a:p>
          <a:p>
            <a:pPr marL="256032" indent="-256032">
              <a:spcAft>
                <a:spcPts val="14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Sesgos en poblaciones subrepresentadas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3 · CASOS DE USO LATAM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Regulación y residencia de datos en la región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53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"/>
              </a:rPr>
              <a:t>Colombia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45920"/>
            <a:ext cx="3474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Ley 1581 de 2012 · política de IA (CONPES)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59152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359152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"/>
              </a:rPr>
              <a:t>Brasil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359152"/>
            <a:ext cx="3474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LGPD · Ley 13.709 de 2018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72384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77240" y="3072384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"/>
              </a:rPr>
              <a:t>Chile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72384"/>
            <a:ext cx="3474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Ley 21.719 de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85615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3785615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"/>
              </a:rPr>
              <a:t>México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785615"/>
            <a:ext cx="3474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LFPDPPP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498848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4498848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"/>
              </a:rPr>
              <a:t>Perú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4498848"/>
            <a:ext cx="3474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Ley 29733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5394960" cy="5943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212080"/>
            <a:ext cx="15544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"/>
              </a:rPr>
              <a:t>Argentina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212080"/>
            <a:ext cx="347472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Ley 25.326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8EA3B5"/>
                </a:solidFill>
                <a:latin typeface="Arial"/>
              </a:rPr>
              <a:t>Referencia: verifique la norma vigente en cada país. No es asesoría legal.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164592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37960" y="171907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  <a:latin typeface="Arial"/>
              </a:rPr>
              <a:t>Residencia de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10312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EF5"/>
                </a:solidFill>
                <a:latin typeface="Arial"/>
              </a:rPr>
              <a:t>Regiones locales existen, pero no todos los modelos están en todas.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278892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37960" y="286207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Arial"/>
              </a:rPr>
              <a:t>Transferencias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24612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EF5"/>
                </a:solidFill>
                <a:latin typeface="Arial"/>
              </a:rPr>
              <a:t>Enviar datos personales a otro país puede requerir bases legales.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393192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37960" y="400507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E676"/>
                </a:solidFill>
                <a:latin typeface="Arial"/>
              </a:rPr>
              <a:t>Minimización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38912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EF5"/>
                </a:solidFill>
                <a:latin typeface="Arial"/>
              </a:rPr>
              <a:t>Anonimizar o enmascarar antes de enviar al modelo.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5074920"/>
            <a:ext cx="5303520" cy="10058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37960" y="5148072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9B7BFF"/>
                </a:solidFill>
                <a:latin typeface="Arial"/>
              </a:rPr>
              <a:t>Trazabilidad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53212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6EEF5"/>
                </a:solidFill>
                <a:latin typeface="Arial"/>
              </a:rPr>
              <a:t>Registrar llamadas para auditorías y derechos de los titulares.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0" b="1" i="0">
                <a:solidFill>
                  <a:srgbClr val="00D4FF"/>
                </a:solidFill>
                <a:latin typeface="Calibri"/>
              </a:rPr>
              <a:t>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E6EEF5"/>
                </a:solidFill>
                <a:latin typeface="Calibri"/>
              </a:rPr>
              <a:t>Comparativa de costos y factores de selección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343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8EA3B5"/>
                </a:solidFill>
                <a:latin typeface="Arial"/>
              </a:rPr>
              <a:t>Cómo se cobra · Ejemplo de cálculo · Punto de equilibrio · TCO · Matriz de decisión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4 · COSTOS Y FACTORES DE 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Cómo se cobra un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55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 i="0">
                <a:solidFill>
                  <a:srgbClr val="00D4FF"/>
                </a:solidFill>
                <a:latin typeface="Arial"/>
              </a:rPr>
              <a:t>tokens de entrada</a:t>
            </a:r>
          </a:p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× precio entrada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594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8EA3B5"/>
                </a:solidFill>
                <a:latin typeface="Arial"/>
              </a:rP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7373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 i="0">
                <a:solidFill>
                  <a:srgbClr val="F5A623"/>
                </a:solidFill>
                <a:latin typeface="Arial"/>
              </a:rPr>
              <a:t>tokens de salida</a:t>
            </a:r>
          </a:p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× precio salida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1737360"/>
            <a:ext cx="594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8EA3B5"/>
                </a:solidFill>
                <a:latin typeface="Arial"/>
              </a:rP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7373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25400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2000" b="1" i="0">
                <a:solidFill>
                  <a:srgbClr val="9B7BFF"/>
                </a:solidFill>
                <a:latin typeface="Arial"/>
              </a:rPr>
              <a:t>costo fijo</a:t>
            </a:r>
          </a:p>
          <a:p>
            <a:pPr algn="ctr"/>
            <a:r>
              <a:rPr sz="1500" b="0" i="0">
                <a:solidFill>
                  <a:srgbClr val="E6EEF5"/>
                </a:solidFill>
                <a:latin typeface="Arial"/>
              </a:rPr>
              <a:t>si es autohospedado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2044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37033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5A623"/>
                </a:solidFill>
                <a:latin typeface="Calibri"/>
              </a:rPr>
              <a:t>4–8×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5720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6EEF5"/>
                </a:solidFill>
                <a:latin typeface="Arial"/>
              </a:rPr>
              <a:t>más cuesta un token de salida que uno de entrada (típico)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352044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1999" y="37033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  <a:latin typeface="Calibri"/>
              </a:rPr>
              <a:t>USD / 1M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45720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6EEF5"/>
                </a:solidFill>
                <a:latin typeface="Arial"/>
              </a:rPr>
              <a:t>unidad de precio habitual: dólares por millón de tokens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3520440"/>
            <a:ext cx="3520440" cy="26060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370332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00E676"/>
                </a:solidFill>
                <a:latin typeface="Calibri"/>
              </a:rPr>
              <a:t>Caché y lotes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572000"/>
            <a:ext cx="30175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6EEF5"/>
                </a:solidFill>
                <a:latin typeface="Arial"/>
              </a:rPr>
              <a:t>descuentos por reutilizar contexto o procesar de forma asíncrona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4 · COSTOS Y FACTORES DE 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Ejemplo: chatbot bancario de 20.000 conversaciones diarias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56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59" y="17830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0D4FF"/>
                </a:solidFill>
                <a:latin typeface="Calibri"/>
              </a:rPr>
              <a:t>600 mil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697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6EEF5"/>
                </a:solidFill>
                <a:latin typeface="Arial"/>
              </a:rPr>
              <a:t>solicitudes al 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71999" y="17830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5A623"/>
                </a:solidFill>
                <a:latin typeface="Calibri"/>
              </a:rPr>
              <a:t>870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697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6EEF5"/>
                </a:solidFill>
                <a:latin typeface="Arial"/>
              </a:rPr>
              <a:t>tokens al mes (1.200 in + 250 out)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4592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00E676"/>
                </a:solidFill>
                <a:latin typeface="Calibri"/>
              </a:rPr>
              <a:t>USD 591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697480"/>
            <a:ext cx="3017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E6EEF5"/>
                </a:solidFill>
                <a:latin typeface="Arial"/>
              </a:rPr>
              <a:t>al mes con un modelo tipo “flash” (ilustrativo)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840480"/>
            <a:ext cx="11064240" cy="22860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9776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00">
                <a:solidFill>
                  <a:srgbClr val="F5A623"/>
                </a:solidFill>
                <a:latin typeface="Arial"/>
              </a:rPr>
              <a:t>¿DÓNDE ESTÁ EL COSTO?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80560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Arial"/>
              </a:rPr>
              <a:t>Entrada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03120" y="4553712"/>
            <a:ext cx="3187598" cy="18288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103120" y="473659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A3B5"/>
                </a:solidFill>
                <a:latin typeface="Arial"/>
              </a:rPr>
              <a:t>83 % de los tokens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553712"/>
            <a:ext cx="1420977" cy="18288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400800" y="473659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A3B5"/>
                </a:solidFill>
                <a:latin typeface="Arial"/>
              </a:rPr>
              <a:t>37 % del costo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800"/>
            <a:ext cx="1188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A623"/>
                </a:solidFill>
                <a:latin typeface="Arial"/>
              </a:rPr>
              <a:t>Salida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03120" y="5330952"/>
            <a:ext cx="652881" cy="182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103120" y="551383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A3B5"/>
                </a:solidFill>
                <a:latin typeface="Arial"/>
              </a:rPr>
              <a:t>17 % de los tokens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5330952"/>
            <a:ext cx="2419502" cy="18288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0" y="5513832"/>
            <a:ext cx="39319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A3B5"/>
                </a:solidFill>
                <a:latin typeface="Arial"/>
              </a:rPr>
              <a:t>63 % del costo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977639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E6EEF5"/>
                </a:solidFill>
                <a:latin typeface="Arial"/>
              </a:rPr>
              <a:t>La salida es poca… pero es la más cara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4 · COSTOS Y FACTORES DE 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Pago por uso vs. infraestructura propia: el punto de equilibrio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57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554480"/>
          <a:ext cx="7680960" cy="4434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0350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8EA3B5"/>
                </a:solidFill>
                <a:latin typeface="Arial"/>
              </a:rPr>
              <a:t>Eje horizontal: solicitudes al mes (millones) · precios ilustrativos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1600200"/>
            <a:ext cx="3108960" cy="2194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8732520" y="1828800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0" y="1801368"/>
            <a:ext cx="21031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Equilibrio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423160"/>
            <a:ext cx="2697479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≈ 2,9 M solicitudes/mes frente al modelo tipo flash (≈ 98 mil por día).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3977639"/>
            <a:ext cx="3108960" cy="21945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732520" y="4206240"/>
            <a:ext cx="457200" cy="45720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4178807"/>
            <a:ext cx="210311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5C7A"/>
                </a:solidFill>
                <a:latin typeface="Calibri"/>
              </a:rPr>
              <a:t>Lo que falta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4800600"/>
            <a:ext cx="2697479" cy="12344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Operación, capacidad máxima de la GPU y diferencia de calidad.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4 · COSTOS Y FACTORES DE 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Costo total de propiedad: lo que no aparece en la tarifa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58</a:t>
            </a:r>
          </a:p>
        </p:txBody>
      </p:sp>
      <p:sp>
        <p:nvSpPr>
          <p:cNvPr id="6" name="Isosceles Triangle 5"/>
          <p:cNvSpPr/>
          <p:nvPr/>
        </p:nvSpPr>
        <p:spPr>
          <a:xfrm>
            <a:off x="1097280" y="1600200"/>
            <a:ext cx="4206240" cy="1508760"/>
          </a:xfrm>
          <a:prstGeom prst="triangl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73152" rIns="73152" tIns="73152" bIns="73152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/>
            </a:r>
          </a:p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Tarifa por token</a:t>
            </a:r>
          </a:p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o GPU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3154680"/>
            <a:ext cx="11064240" cy="0"/>
          </a:xfrm>
          <a:prstGeom prst="line">
            <a:avLst/>
          </a:prstGeom>
          <a:ln w="19050">
            <a:solidFill>
              <a:srgbClr val="00D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869680" y="27432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0D4FF"/>
                </a:solidFill>
                <a:latin typeface="Arial"/>
              </a:rPr>
              <a:t>línea de flotación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4747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Integración y datos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4747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Evaluación continua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34747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Observabilidad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399" y="34747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5875">
            <a:solidFill>
              <a:srgbClr val="FF5C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Seguridad y cumplimiento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5875">
            <a:solidFill>
              <a:srgbClr val="9B7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Alta disponibilidad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4846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5875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Personas: MLOps y soporte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79" y="4846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58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Gestión del cambio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4846320"/>
            <a:ext cx="2606040" cy="114300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 w="15875">
            <a:solidFill>
              <a:srgbClr val="00E6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/>
            <a:r>
              <a:rPr sz="1500" b="1" i="0">
                <a:solidFill>
                  <a:srgbClr val="E6EEF5"/>
                </a:solidFill>
                <a:latin typeface="Arial"/>
              </a:rPr>
              <a:t>Costo de oportunidad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1737360"/>
            <a:ext cx="5760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6EEF5"/>
                </a:solidFill>
                <a:latin typeface="Arial"/>
              </a:rPr>
              <a:t>Lo visible es solo una parte. Los costos ocultos suelen igualar o superar el costo del modelo.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4 · COSTOS Y FACTORES DE 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Palancas de optimización de 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59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74519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47088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Modelo adecuado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1089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El más pequeño que cumpla la calidad; enrutar solo lo difícil al grande.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645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26279" y="1874519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847088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5A623"/>
                </a:solidFill>
                <a:latin typeface="Calibri"/>
              </a:rPr>
              <a:t>Controlar la salida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2468880"/>
            <a:ext cx="31089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Límite de tokens, respuestas concisas, JSON en vez de prosa.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645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275319" y="1874519"/>
            <a:ext cx="457200" cy="45720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1847088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E676"/>
                </a:solidFill>
                <a:latin typeface="Calibri"/>
              </a:rPr>
              <a:t>Caché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2468880"/>
            <a:ext cx="31089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De prompts (proveedor) y de respuestas frecuentes (propia).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931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160520"/>
            <a:ext cx="457200" cy="45720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133087"/>
            <a:ext cx="2514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9B7BFF"/>
                </a:solidFill>
                <a:latin typeface="Calibri"/>
              </a:rPr>
              <a:t>Menos contexto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4880"/>
            <a:ext cx="31089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RAG en lugar de documentos completos; resumir historiales.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3931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26279" y="4160520"/>
            <a:ext cx="457200" cy="45720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33087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5C7A"/>
                </a:solidFill>
                <a:latin typeface="Calibri"/>
              </a:rPr>
              <a:t>Lotes asíncronos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79" y="4754880"/>
            <a:ext cx="31089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Procesos no interactivos con APIs batch con descuento.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93192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275319" y="4160520"/>
            <a:ext cx="457200" cy="45720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4133087"/>
            <a:ext cx="2514599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0D4FF"/>
                </a:solidFill>
                <a:latin typeface="Calibri"/>
              </a:rPr>
              <a:t>Medir por caso de uso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4754880"/>
            <a:ext cx="3108960" cy="1142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E6EEF5"/>
                </a:solidFill>
                <a:latin typeface="Arial"/>
              </a:rPr>
              <a:t>Sin observabilidad de costo no hay optimización.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4 · COSTOS Y FACTORES DE 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Factores de selección de un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2029968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45920"/>
            <a:ext cx="2468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Calidad en su tarea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64592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526279" y="2029968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799" y="1645920"/>
            <a:ext cx="2468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Costo a escala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64592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8275319" y="2029968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1645920"/>
            <a:ext cx="2468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Latencia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777240" y="3538728"/>
            <a:ext cx="548640" cy="54864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F1923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54680"/>
            <a:ext cx="2468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Privacidad y residencia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31546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526279" y="3538728"/>
            <a:ext cx="548640" cy="548640"/>
          </a:xfrm>
          <a:prstGeom prst="ellipse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F1923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799" y="3154680"/>
            <a:ext cx="2468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Cumplimiento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15468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8275319" y="3538728"/>
            <a:ext cx="548640" cy="54864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F1923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154680"/>
            <a:ext cx="2468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Contexto y capacidades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66344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777240" y="5047488"/>
            <a:ext cx="548640" cy="54864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F1923"/>
                </a:solidFill>
                <a:latin typeface="Arial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663440"/>
            <a:ext cx="2468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Calidad en español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466344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4526279" y="5047488"/>
            <a:ext cx="548640" cy="54864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F1923"/>
                </a:solidFill>
                <a:latin typeface="Arial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799" y="4663440"/>
            <a:ext cx="2468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Operación, SLA y soporte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4663440"/>
            <a:ext cx="3520440" cy="13258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275319" y="5047488"/>
            <a:ext cx="548640" cy="548640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700" b="1" i="0">
                <a:solidFill>
                  <a:srgbClr val="0F1923"/>
                </a:solidFill>
                <a:latin typeface="Arial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4663440"/>
            <a:ext cx="246888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Licencia y dependencia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TEMA 4 · COSTOS Y FACTORES DE SELECCIÓN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Matriz de decisión ponderada: ejemplo para el sector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61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40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097280"/>
                <a:gridCol w="114300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Opción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Calidad
20%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Costo
10%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Latencia
10%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Privacidad
20%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Cumplim.
25%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Operación
5%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Español
10%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00D4FF"/>
                          </a:solidFill>
                          <a:latin typeface="Arial"/>
                        </a:rPr>
                        <a:t>Puntaje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5A623"/>
                          </a:solidFill>
                          <a:latin typeface="Arial"/>
                        </a:rPr>
                        <a:t>API gama alta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3,40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5A623"/>
                          </a:solidFill>
                          <a:latin typeface="Arial"/>
                        </a:rPr>
                        <a:t>API económica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3,30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5A623"/>
                          </a:solidFill>
                          <a:latin typeface="Arial"/>
                        </a:rPr>
                        <a:t>Abierto en nube privada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3,85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5A623"/>
                          </a:solidFill>
                          <a:latin typeface="Arial"/>
                        </a:rPr>
                        <a:t>Abierto pequeño on-prem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E6EEF5"/>
                          </a:solidFill>
                          <a:latin typeface="Arial"/>
                        </a:rPr>
                        <a:t>3,75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106070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0E676"/>
                </a:solidFill>
                <a:latin typeface="Arial"/>
              </a:rPr>
              <a:t>Gana: </a:t>
            </a:r>
            <a:r>
              <a:rPr sz="1600" b="1" i="0">
                <a:solidFill>
                  <a:srgbClr val="E6EEF5"/>
                </a:solidFill>
                <a:latin typeface="Arial"/>
              </a:rPr>
              <a:t>Abierto en nube privada (3,85). </a:t>
            </a:r>
            <a:r>
              <a:rPr sz="1600" b="0" i="0">
                <a:solidFill>
                  <a:srgbClr val="8EA3B5"/>
                </a:solidFill>
                <a:latin typeface="Arial"/>
              </a:rPr>
              <a:t>Con los pesos de una startup de comercio, gana la API económica. Calificaciones ilustrativas para discusión.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De la teoría a la decisión (45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62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645920"/>
            <a:ext cx="4206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Encoder vs. decoder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45920"/>
            <a:ext cx="5394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Misma tarea: exactitud, latencia y formato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532888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731520" y="2715768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532888"/>
            <a:ext cx="4206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Mismo código, varios proveedores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32888"/>
            <a:ext cx="5394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Interoperabilidad: solo cambia la configuración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419856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731520" y="3602736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3419856"/>
            <a:ext cx="4206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Punto de equilibrio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419856"/>
            <a:ext cx="5394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API de pago por uso vs. GPU dedicada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06824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731520" y="4489704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306824"/>
            <a:ext cx="4206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Matriz de 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306824"/>
            <a:ext cx="5394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Pesos por sector y análisis de sensibilidad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93792"/>
            <a:ext cx="11064240" cy="749808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731520" y="5376672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300" b="1" i="0">
                <a:solidFill>
                  <a:srgbClr val="0F1923"/>
                </a:solidFill>
                <a:latin typeface="Arial"/>
              </a:rPr>
              <a:t>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5193792"/>
            <a:ext cx="420624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E6EEF5"/>
                </a:solidFill>
                <a:latin typeface="Arial"/>
              </a:rPr>
              <a:t>LLM Lab · pestañas 3, 4 y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5193792"/>
            <a:ext cx="5394960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Embeddings · comparador · calculadora de costos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LABORATORIO EN LA NUBE · GOOGLE CLOUD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Un mismo agente, tres formas de construirlo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63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22959" y="1874519"/>
            <a:ext cx="594360" cy="594360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874519"/>
            <a:ext cx="2377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Calibri"/>
              </a:rPr>
              <a:t>Consola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6517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Agent Studio · sin código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3756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>
                <a:solidFill>
                  <a:srgbClr val="00D4FF"/>
                </a:solidFill>
                <a:latin typeface="Arial"/>
              </a:rPr>
              <a:t>→ Agent Runtime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0233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Prototipos rápidos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Usuarios de negocio</a:t>
            </a:r>
          </a:p>
          <a:p>
            <a:pPr marL="256032" indent="-256032">
              <a:spcAft>
                <a:spcPts val="800"/>
              </a:spcAft>
              <a:buClr>
                <a:srgbClr val="00D4FF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Menor control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64592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4571999" y="1874519"/>
            <a:ext cx="594360" cy="59436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19" y="1874519"/>
            <a:ext cx="2377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F5A623"/>
                </a:solidFill>
                <a:latin typeface="Calibri"/>
              </a:rPr>
              <a:t>Google ADK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6517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agent.py + herramientas Python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1999" y="333756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>
                <a:solidFill>
                  <a:srgbClr val="F5A623"/>
                </a:solidFill>
                <a:latin typeface="Arial"/>
              </a:rPr>
              <a:t>→ Agent 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40233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F5A623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Sesiones gestionadas</a:t>
            </a:r>
          </a:p>
          <a:p>
            <a:pPr marL="256032" indent="-256032">
              <a:spcAft>
                <a:spcPts val="800"/>
              </a:spcAft>
              <a:buClr>
                <a:srgbClr val="F5A623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Código abierto y portable</a:t>
            </a:r>
          </a:p>
          <a:p>
            <a:pPr marL="256032" indent="-256032">
              <a:spcAft>
                <a:spcPts val="800"/>
              </a:spcAft>
              <a:buClr>
                <a:srgbClr val="F5A623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Buen equilibrio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64592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8321040" y="1874519"/>
            <a:ext cx="594360" cy="594360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20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1874519"/>
            <a:ext cx="23774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00E676"/>
                </a:solidFill>
                <a:latin typeface="Calibri"/>
              </a:rPr>
              <a:t>Sin ADK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6517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6EEF5"/>
                </a:solidFill>
                <a:latin typeface="Arial"/>
              </a:rPr>
              <a:t>FastAPI + google-genai · Docker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333756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1200" b="1" i="0">
                <a:solidFill>
                  <a:srgbClr val="00E676"/>
                </a:solidFill>
                <a:latin typeface="Arial"/>
              </a:rPr>
              <a:t>→ Cloud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023360"/>
            <a:ext cx="3017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8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Control total</a:t>
            </a:r>
          </a:p>
          <a:p>
            <a:pPr marL="256032" indent="-256032">
              <a:spcAft>
                <a:spcPts val="8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Máxima portabilidad</a:t>
            </a:r>
          </a:p>
          <a:p>
            <a:pPr marL="256032" indent="-256032">
              <a:spcAft>
                <a:spcPts val="800"/>
              </a:spcAft>
              <a:buClr>
                <a:srgbClr val="00E676"/>
              </a:buClr>
              <a:buFont typeface="Arial"/>
              <a:buChar char="•"/>
            </a:pPr>
            <a:r>
              <a:rPr sz="1500" b="0" i="0">
                <a:solidFill>
                  <a:srgbClr val="E6EEF5"/>
                </a:solidFill>
                <a:latin typeface="Arial"/>
              </a:rPr>
              <a:t>Usted opera todo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SESIÓN 2 · ENTREGABLE Y EVALUACIÓN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Memo de recomendación (máx. 2 páginas)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64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480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Caso y datos involucrados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4480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Familia de modelo recomendada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172968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08960"/>
            <a:ext cx="4480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Modelo de despliegue y regulación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04488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840480"/>
            <a:ext cx="4480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Costo mensual con supuestos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636008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72000"/>
            <a:ext cx="4480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Matriz de decisión y sensibilidad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367528"/>
            <a:ext cx="457200" cy="45720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400" b="1" i="0">
                <a:solidFill>
                  <a:srgbClr val="0F1923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03520"/>
            <a:ext cx="44805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6EEF5"/>
                </a:solidFill>
                <a:latin typeface="Arial"/>
              </a:rPr>
              <a:t>Riesgos y mitigaciones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035040" y="1645920"/>
          <a:ext cx="5577840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480560"/>
                <a:gridCol w="109728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D4FF"/>
                          </a:solidFill>
                          <a:latin typeface="Arial"/>
                        </a:rPr>
                        <a:t>Criterio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00D4FF"/>
                          </a:solidFill>
                          <a:latin typeface="Arial"/>
                        </a:rPr>
                        <a:t>Peso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D2D3B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Justifica la familia de modelo según la tarea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Elige el despliegue considerando datos, regulación y operación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Estima costos con supuestos explícitos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0F1923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Matriz coherente con el sector y análisis de riesgos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E6EEF5"/>
                          </a:solidFill>
                          <a:latin typeface="Arial"/>
                        </a:rPr>
                        <a:t>25 %</a:t>
                      </a: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E50"/>
                      </a:solidFill>
                      <a:prstDash val="solid"/>
                    </a:lnL>
                    <a:lnR w="9525" cap="flat" cmpd="sng" algn="ctr">
                      <a:solidFill>
                        <a:srgbClr val="2A3E50"/>
                      </a:solidFill>
                      <a:prstDash val="solid"/>
                    </a:lnR>
                    <a:lnT w="9525" cap="flat" cmpd="sng" algn="ctr">
                      <a:solidFill>
                        <a:srgbClr val="2A3E50"/>
                      </a:solidFill>
                      <a:prstDash val="solid"/>
                    </a:lnT>
                    <a:lnB w="9525" cap="flat" cmpd="sng" algn="ctr">
                      <a:solidFill>
                        <a:srgbClr val="2A3E50"/>
                      </a:solidFill>
                      <a:prstDash val="solid"/>
                    </a:lnB>
                    <a:solidFill>
                      <a:srgbClr val="16232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6035040" y="5440680"/>
            <a:ext cx="5577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8EA3B5"/>
                </a:solidFill>
                <a:latin typeface="Arial"/>
              </a:rPr>
              <a:t>+ Quiz de 10 preguntas con retroalimentación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CIERRE DEL CAPÍTULO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Lo que un arquitecto de soluciones LLM ya sabe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0D4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6EEF5"/>
                </a:solidFill>
                <a:latin typeface="Calibri"/>
              </a:rPr>
              <a:t>Predice tokens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66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Diseñe para sus limitaciones: alucinaciones, contexto, costo.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6459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93592" y="1783080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F5A623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69748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6EEF5"/>
                </a:solidFill>
                <a:latin typeface="Calibri"/>
              </a:rPr>
              <a:t>Familias distintas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566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Encoder comprende · decoder genera · encoder-decoder transforma.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459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09944" y="1783080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00E676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69748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6EEF5"/>
                </a:solidFill>
                <a:latin typeface="Calibri"/>
              </a:rPr>
              <a:t>Espectro de despliegue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3566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De la API al on-premise; el híbrido con gateway combina ambos.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645920"/>
            <a:ext cx="2606040" cy="3566160"/>
          </a:xfrm>
          <a:prstGeom prst="roundRect">
            <a:avLst>
              <a:gd name="adj" fmla="val 8000"/>
            </a:avLst>
          </a:prstGeom>
          <a:solidFill>
            <a:srgbClr val="162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226296" y="1783080"/>
            <a:ext cx="2194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 i="0">
                <a:solidFill>
                  <a:srgbClr val="9B7B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69748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6EEF5"/>
                </a:solidFill>
                <a:latin typeface="Calibri"/>
              </a:rPr>
              <a:t>Decisión cuantificada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6296" y="3566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8EA3B5"/>
                </a:solidFill>
                <a:latin typeface="Arial"/>
              </a:rPr>
              <a:t>Tokens, punto de equilibrio, TCO y matriz ponderada.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8000"/>
            </a:avLst>
          </a:prstGeom>
          <a:solidFill>
            <a:srgbClr val="1D2D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22960" y="5486400"/>
            <a:ext cx="106070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5A623"/>
                </a:solidFill>
                <a:latin typeface="Arial"/>
              </a:rPr>
              <a:t>Próximo capítulo: </a:t>
            </a:r>
            <a:r>
              <a:rPr sz="1600" b="0" i="0">
                <a:solidFill>
                  <a:srgbClr val="E6EEF5"/>
                </a:solidFill>
                <a:latin typeface="Arial"/>
              </a:rPr>
              <a:t>consumir un endpoint paso a paso, y optimización de costos y rendimiento.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50">
                <a:solidFill>
                  <a:srgbClr val="00D4FF"/>
                </a:solidFill>
                <a:latin typeface="Arial"/>
              </a:rP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E6EEF5"/>
                </a:solidFill>
                <a:latin typeface="Calibri"/>
              </a:rPr>
              <a:t>Lecturas recomendadas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EA3B5"/>
                </a:solidFill>
                <a:latin typeface="Arial"/>
              </a:rPr>
              <a:t>Fundamentos de Arquitectura LLM · BSG Institute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7589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EA3B5"/>
                </a:solidFill>
                <a:latin typeface="Arial"/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00D4FF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Vaswani et al. (2017). Attention Is All You Need. NeurIPS.</a:t>
            </a:r>
          </a:p>
          <a:p>
            <a:pPr marL="256032" indent="-256032">
              <a:spcAft>
                <a:spcPts val="1200"/>
              </a:spcAft>
              <a:buClr>
                <a:srgbClr val="00D4FF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Devlin et al. (2018). BERT: Pre-training of Deep Bidirectional Transformers.</a:t>
            </a:r>
          </a:p>
          <a:p>
            <a:pPr marL="256032" indent="-256032">
              <a:spcAft>
                <a:spcPts val="1200"/>
              </a:spcAft>
              <a:buClr>
                <a:srgbClr val="00D4FF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Radford et al. (2019). Language Models are Unsupervised Multitask Learners (GPT-2).</a:t>
            </a:r>
          </a:p>
          <a:p>
            <a:pPr marL="256032" indent="-256032">
              <a:spcAft>
                <a:spcPts val="1200"/>
              </a:spcAft>
              <a:buClr>
                <a:srgbClr val="00D4FF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Raffel et al. (2019). Exploring the Limits of Transfer Learning… (T5).</a:t>
            </a:r>
          </a:p>
          <a:p>
            <a:pPr marL="256032" indent="-256032">
              <a:spcAft>
                <a:spcPts val="1200"/>
              </a:spcAft>
              <a:buClr>
                <a:srgbClr val="00D4FF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Brown et al. (2020). Language Models are Few-Shot Learners (GPT-3).</a:t>
            </a:r>
          </a:p>
          <a:p>
            <a:pPr marL="256032" indent="-256032">
              <a:spcAft>
                <a:spcPts val="1200"/>
              </a:spcAft>
              <a:buClr>
                <a:srgbClr val="00D4FF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Kaplan et al. (2020). Scaling Laws for Neural Language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91640"/>
            <a:ext cx="5394960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spcAft>
                <a:spcPts val="1200"/>
              </a:spcAft>
              <a:buClr>
                <a:srgbClr val="F5A623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Hoffmann et al. (2022). Training Compute-Optimal LLMs (Chinchilla).</a:t>
            </a:r>
          </a:p>
          <a:p>
            <a:pPr marL="256032" indent="-256032">
              <a:spcAft>
                <a:spcPts val="1200"/>
              </a:spcAft>
              <a:buClr>
                <a:srgbClr val="F5A623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Ouyang et al. (2022). Training language models to follow instructions with human feedback.</a:t>
            </a:r>
          </a:p>
          <a:p>
            <a:pPr marL="256032" indent="-256032">
              <a:spcAft>
                <a:spcPts val="1200"/>
              </a:spcAft>
              <a:buClr>
                <a:srgbClr val="F5A623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Bommasani et al. (2021). On the Opportunities and Risks of Foundation Models.</a:t>
            </a:r>
          </a:p>
          <a:p>
            <a:pPr marL="256032" indent="-256032">
              <a:spcAft>
                <a:spcPts val="1200"/>
              </a:spcAft>
              <a:buClr>
                <a:srgbClr val="F5A623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J. Alammar. The Illustrated Transformer (blog).</a:t>
            </a:r>
          </a:p>
          <a:p>
            <a:pPr marL="256032" indent="-256032">
              <a:spcAft>
                <a:spcPts val="1200"/>
              </a:spcAft>
              <a:buClr>
                <a:srgbClr val="F5A623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Documentación: Ollama · Google Gemini Enterprise Agent Platform · Google ADK.</a:t>
            </a:r>
          </a:p>
          <a:p>
            <a:pPr marL="256032" indent="-256032">
              <a:spcAft>
                <a:spcPts val="1200"/>
              </a:spcAft>
              <a:buClr>
                <a:srgbClr val="F5A623"/>
              </a:buClr>
              <a:buFont typeface="Arial"/>
              <a:buChar char="•"/>
            </a:pPr>
            <a:r>
              <a:rPr sz="1400" b="0" i="0">
                <a:solidFill>
                  <a:srgbClr val="E6EEF5"/>
                </a:solidFill>
                <a:latin typeface="Arial"/>
              </a:rPr>
              <a:t>Repositorio del curso: guías, laboratorios y evaluación.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2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E6EEF5"/>
                </a:solidFill>
                <a:latin typeface="Calibri"/>
              </a:rPr>
              <a:t>¿Preguntas?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3832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00D4FF"/>
                </a:solidFill>
                <a:latin typeface="Arial"/>
              </a:rPr>
              <a:t>Fundamentos de Arquitectura LLM · Capítulo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8EA3B5"/>
                </a:solidFill>
                <a:latin typeface="Arial"/>
              </a:rPr>
              <a:t>Repositorio: guías, laboratorios, LLM Lab y laboratorio de Google Cloud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5120640"/>
            <a:ext cx="256032" cy="256032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280160" y="5120640"/>
            <a:ext cx="256032" cy="256032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737360" y="5120640"/>
            <a:ext cx="256032" cy="256032"/>
          </a:xfrm>
          <a:prstGeom prst="ellipse">
            <a:avLst/>
          </a:prstGeom>
          <a:solidFill>
            <a:srgbClr val="00E6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2194560" y="5120640"/>
            <a:ext cx="256032" cy="256032"/>
          </a:xfrm>
          <a:prstGeom prst="ellipse">
            <a:avLst/>
          </a:prstGeom>
          <a:solidFill>
            <a:srgbClr val="9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